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0" r:id="rId2"/>
    <p:sldId id="301" r:id="rId3"/>
    <p:sldId id="302" r:id="rId4"/>
    <p:sldId id="303" r:id="rId5"/>
    <p:sldId id="304" r:id="rId6"/>
    <p:sldId id="305" r:id="rId7"/>
    <p:sldId id="306" r:id="rId8"/>
    <p:sldId id="307" r:id="rId9"/>
    <p:sldId id="308" r:id="rId10"/>
    <p:sldId id="309" r:id="rId11"/>
    <p:sldId id="310" r:id="rId12"/>
    <p:sldId id="311" r:id="rId13"/>
    <p:sldId id="312" r:id="rId14"/>
    <p:sldId id="313" r:id="rId15"/>
    <p:sldId id="314" r:id="rId16"/>
    <p:sldId id="315" r:id="rId17"/>
    <p:sldId id="316" r:id="rId18"/>
    <p:sldId id="297" r:id="rId19"/>
    <p:sldId id="317" r:id="rId20"/>
    <p:sldId id="31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23"/>
    <p:restoredTop sz="94634"/>
  </p:normalViewPr>
  <p:slideViewPr>
    <p:cSldViewPr snapToGrid="0" snapToObjects="1">
      <p:cViewPr varScale="1">
        <p:scale>
          <a:sx n="169" d="100"/>
          <a:sy n="169" d="100"/>
        </p:scale>
        <p:origin x="208" y="2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286000"/>
          </a:xfrm>
          <a:prstGeom prst="rect">
            <a:avLst/>
          </a:prstGeom>
          <a:solidFill>
            <a:srgbClr val="18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2606040"/>
            <a:ext cx="109728" cy="1828800"/>
          </a:xfrm>
          <a:prstGeom prst="rect">
            <a:avLst/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1">
                <a:solidFill>
                  <a:srgbClr val="F9E2AF"/>
                </a:solidFill>
                <a:latin typeface="Helvetica Neue"/>
              </a:rPr>
              <a:t>Broadcast-Grade Subtitle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972800" cy="12801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7200" b="1">
                <a:solidFill>
                  <a:srgbClr val="F5F5FA"/>
                </a:solidFill>
                <a:latin typeface="Helvetica Neue"/>
              </a:rPr>
              <a:t>MoTitle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0">
                <a:solidFill>
                  <a:srgbClr val="A0A0B0"/>
                </a:solidFill>
                <a:latin typeface="Helvetica Neue"/>
              </a:rPr>
              <a:t>本地優先 · 模塊化 Pipeline · 廣播交付級輸出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5500" y="4940300"/>
            <a:ext cx="1231900" cy="33020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100" b="1">
                <a:solidFill>
                  <a:srgbClr val="101018"/>
                </a:solidFill>
              </a:rPr>
              <a:t> 100% 本地可運行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2400" y="4940300"/>
            <a:ext cx="546100" cy="330200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100" b="1">
                <a:solidFill>
                  <a:srgbClr val="F5F5FA"/>
                </a:solidFill>
              </a:rPr>
              <a:t> 零月費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32200" y="4940300"/>
            <a:ext cx="825500" cy="330200"/>
          </a:xfrm>
          <a:prstGeom prst="roundRect">
            <a:avLst>
              <a:gd name="adj" fmla="val 50000"/>
            </a:avLst>
          </a:prstGeom>
          <a:solidFill>
            <a:srgbClr val="F9E2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100" b="1">
                <a:solidFill>
                  <a:srgbClr val="101018"/>
                </a:solidFill>
              </a:rPr>
              <a:t> 廣播交付級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53000" y="4940300"/>
            <a:ext cx="1003300" cy="330200"/>
          </a:xfrm>
          <a:prstGeom prst="roundRect">
            <a:avLst>
              <a:gd name="adj" fmla="val 50000"/>
            </a:avLst>
          </a:prstGeom>
          <a:solidFill>
            <a:srgbClr val="18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100" b="1">
                <a:solidFill>
                  <a:srgbClr val="F5F5FA"/>
                </a:solidFill>
              </a:rPr>
              <a:t> 開源 / 自託管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5216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A0A0B0"/>
                </a:solidFill>
                <a:latin typeface="Helvetica Neue"/>
              </a:rPr>
              <a:t>與市面 SaaS 字幕軟件的完整功能比較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D68E6C-D7B0-7C4F-9FDF-BFE98B8DEE9E}"/>
              </a:ext>
            </a:extLst>
          </p:cNvPr>
          <p:cNvSpPr/>
          <p:nvPr/>
        </p:nvSpPr>
        <p:spPr>
          <a:xfrm>
            <a:off x="11607800" y="76200"/>
            <a:ext cx="508000" cy="533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D7D184B-84B9-B349-494A-C733F2A42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3200" y="101600"/>
            <a:ext cx="4572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836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>
                <a:solidFill>
                  <a:srgbClr val="F9E2AF"/>
                </a:solidFill>
                <a:latin typeface="Helvetica Neue"/>
              </a:rPr>
              <a:t>問題陳述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49859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>
                <a:solidFill>
                  <a:srgbClr val="F5F5FA"/>
                </a:solidFill>
                <a:latin typeface="Helvetica Neue"/>
              </a:rPr>
              <a:t>市面 SaaS 字幕軟件的三大痛點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>
                <a:solidFill>
                  <a:srgbClr val="A0A0B0"/>
                </a:solidFill>
                <a:latin typeface="Helvetica Neue"/>
              </a:rPr>
              <a:t>Otter.ai · Rev · Descript · Sonix · Trint · Happy Scribe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3657600" cy="3291840"/>
          </a:xfrm>
          <a:prstGeom prst="roundRect">
            <a:avLst>
              <a:gd name="adj" fmla="val 4000"/>
            </a:avLst>
          </a:prstGeom>
          <a:solidFill>
            <a:srgbClr val="18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2468880"/>
            <a:ext cx="502920" cy="502920"/>
          </a:xfrm>
          <a:prstGeom prst="ellipse">
            <a:avLst/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800" b="1">
                <a:solidFill>
                  <a:srgbClr val="F5F5FA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32004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1">
                <a:solidFill>
                  <a:srgbClr val="F9E2AF"/>
                </a:solidFill>
                <a:latin typeface="Helvetica Neue"/>
              </a:rPr>
              <a:t>月費鎖定 + 按分鐘加價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3200400" cy="59093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F5F5FA"/>
                </a:solidFill>
                <a:latin typeface="Helvetica Neue"/>
              </a:rPr>
              <a:t>$20–60/月僅為入門費用，每分鐘音視頻另收 $0.10–0.50。</a:t>
            </a:r>
          </a:p>
          <a:p>
            <a:pPr algn="l"/>
            <a:r>
              <a:rPr sz="1200" b="0">
                <a:solidFill>
                  <a:srgbClr val="F5F5FA"/>
                </a:solidFill>
                <a:latin typeface="Helvetica Neue"/>
              </a:rPr>
              <a:t>專業字幕團隊的每月成本迅速累積至四位數。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194560"/>
            <a:ext cx="3657600" cy="3291840"/>
          </a:xfrm>
          <a:prstGeom prst="roundRect">
            <a:avLst>
              <a:gd name="adj" fmla="val 4000"/>
            </a:avLst>
          </a:prstGeom>
          <a:solidFill>
            <a:srgbClr val="18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754880" y="2468880"/>
            <a:ext cx="502920" cy="502920"/>
          </a:xfrm>
          <a:prstGeom prst="ellipse">
            <a:avLst/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800" b="1">
                <a:solidFill>
                  <a:srgbClr val="F5F5FA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108960"/>
            <a:ext cx="32004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1">
                <a:solidFill>
                  <a:srgbClr val="F9E2AF"/>
                </a:solidFill>
                <a:latin typeface="Helvetica Neue"/>
              </a:rPr>
              <a:t>數據主權失控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840480"/>
            <a:ext cx="3200400" cy="77559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F5F5FA"/>
                </a:solidFill>
                <a:latin typeface="Helvetica Neue"/>
              </a:rPr>
              <a:t>影片必須上傳至雲端，受 ToS 約束，且可能被用於模型訓練。</a:t>
            </a:r>
          </a:p>
          <a:p>
            <a:pPr algn="l"/>
            <a:r>
              <a:rPr sz="1200" b="0">
                <a:solidFill>
                  <a:srgbClr val="F5F5FA"/>
                </a:solidFill>
                <a:latin typeface="Helvetica Neue"/>
              </a:rPr>
              <a:t>機密、法律及醫療項目幾乎無法使用此類服務。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194560"/>
            <a:ext cx="3657600" cy="3291840"/>
          </a:xfrm>
          <a:prstGeom prst="roundRect">
            <a:avLst>
              <a:gd name="adj" fmla="val 4000"/>
            </a:avLst>
          </a:prstGeom>
          <a:solidFill>
            <a:srgbClr val="18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595360" y="2468880"/>
            <a:ext cx="502920" cy="502920"/>
          </a:xfrm>
          <a:prstGeom prst="ellipse">
            <a:avLst/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800" b="1">
                <a:solidFill>
                  <a:srgbClr val="F5F5FA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108960"/>
            <a:ext cx="32004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1">
                <a:solidFill>
                  <a:srgbClr val="F9E2AF"/>
                </a:solidFill>
                <a:latin typeface="Helvetica Neue"/>
              </a:rPr>
              <a:t>黑盒模型 + 供應商鎖定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840480"/>
            <a:ext cx="3200400" cy="59093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F5F5FA"/>
                </a:solidFill>
                <a:latin typeface="Helvetica Neue"/>
              </a:rPr>
              <a:t>ASR 及翻譯模型由供應商完全控制，質量由對方決定。</a:t>
            </a:r>
          </a:p>
          <a:p>
            <a:pPr algn="l"/>
            <a:r>
              <a:rPr sz="1200" b="0">
                <a:solidFill>
                  <a:srgbClr val="F5F5FA"/>
                </a:solidFill>
                <a:latin typeface="Helvetica Neue"/>
              </a:rPr>
              <a:t>數據、流程及字幕格式均被鎖定，難以遷移。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A0A0B0"/>
                </a:solidFill>
                <a:latin typeface="Helvetica Neue"/>
              </a:rPr>
              <a:t>MoTitle — 廣播字幕製作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A0A0B0"/>
                </a:solidFill>
                <a:latin typeface="Helvetica Neue"/>
              </a:rPr>
              <a:t>2 / 21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E42B68E-C9D9-D14A-99F6-C385E0C159AC}"/>
              </a:ext>
            </a:extLst>
          </p:cNvPr>
          <p:cNvSpPr/>
          <p:nvPr/>
        </p:nvSpPr>
        <p:spPr>
          <a:xfrm>
            <a:off x="11607800" y="76200"/>
            <a:ext cx="508000" cy="533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22" name="Copied Picture 22">
            <a:extLst>
              <a:ext uri="{FF2B5EF4-FFF2-40B4-BE49-F238E27FC236}">
                <a16:creationId xmlns:a16="http://schemas.microsoft.com/office/drawing/2014/main" id="{FD7D184B-84B9-B349-494A-C733F2A42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3200" y="101600"/>
            <a:ext cx="4572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02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>
                <a:solidFill>
                  <a:srgbClr val="F9E2AF"/>
                </a:solidFill>
                <a:latin typeface="Helvetica Neue"/>
              </a:rPr>
              <a:t>解決方案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>
                <a:solidFill>
                  <a:srgbClr val="F5F5FA"/>
                </a:solidFill>
                <a:latin typeface="Helvetica Neue"/>
              </a:rPr>
              <a:t>MoTitle — 完全本地、模塊化、廣播交付級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1">
                <a:solidFill>
                  <a:srgbClr val="F9E2AF"/>
                </a:solidFill>
                <a:latin typeface="Helvetica Neue"/>
              </a:rPr>
              <a:t>三個核心理念：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468880"/>
            <a:ext cx="3657600" cy="54864"/>
          </a:xfrm>
          <a:prstGeom prst="rect">
            <a:avLst/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365760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200" b="1">
                <a:solidFill>
                  <a:srgbClr val="F5F5FA"/>
                </a:solidFill>
                <a:latin typeface="Helvetica Neue"/>
              </a:rPr>
              <a:t>本地優先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3657600" cy="143731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lang="en-US" sz="1300" b="1" dirty="0">
                <a:solidFill>
                  <a:srgbClr val="F9E2AF"/>
                </a:solidFill>
                <a:latin typeface="Helvetica Neue"/>
              </a:rPr>
              <a:t>NVIDA</a:t>
            </a:r>
            <a:r>
              <a:rPr sz="1300" b="1" dirty="0">
                <a:solidFill>
                  <a:srgbClr val="F9E2AF"/>
                </a:solidFill>
                <a:latin typeface="Helvetica Neue"/>
              </a:rPr>
              <a:t> B10 chips </a:t>
            </a:r>
            <a:r>
              <a:rPr sz="1300" b="1" dirty="0" err="1">
                <a:solidFill>
                  <a:srgbClr val="F9E2AF"/>
                </a:solidFill>
                <a:latin typeface="Helvetica Neue"/>
              </a:rPr>
              <a:t>全程加速</a:t>
            </a:r>
            <a:endParaRPr sz="1300" b="1" dirty="0">
              <a:solidFill>
                <a:srgbClr val="F9E2AF"/>
              </a:solidFill>
              <a:latin typeface="Helvetica Neue"/>
            </a:endParaRPr>
          </a:p>
          <a:p>
            <a:pPr algn="l"/>
            <a:r>
              <a:rPr sz="1300" b="0" dirty="0" err="1">
                <a:solidFill>
                  <a:srgbClr val="A0A0B0"/>
                </a:solidFill>
                <a:latin typeface="Helvetica Neue"/>
              </a:rPr>
              <a:t>語音轉寫及翻譯均由本機</a:t>
            </a:r>
            <a:r>
              <a:rPr sz="1300" b="0" dirty="0">
                <a:solidFill>
                  <a:srgbClr val="A0A0B0"/>
                </a:solidFill>
                <a:latin typeface="Helvetica Neue"/>
              </a:rPr>
              <a:t> AI chip </a:t>
            </a:r>
            <a:r>
              <a:rPr sz="1300" b="0" dirty="0" err="1">
                <a:solidFill>
                  <a:srgbClr val="A0A0B0"/>
                </a:solidFill>
                <a:latin typeface="Helvetica Neue"/>
              </a:rPr>
              <a:t>負責運算</a:t>
            </a:r>
            <a:r>
              <a:rPr sz="1300" b="0" dirty="0">
                <a:solidFill>
                  <a:srgbClr val="A0A0B0"/>
                </a:solidFill>
                <a:latin typeface="Helvetica Neue"/>
              </a:rPr>
              <a:t>，</a:t>
            </a:r>
          </a:p>
          <a:p>
            <a:pPr algn="l"/>
            <a:r>
              <a:rPr sz="1300" b="0" dirty="0" err="1">
                <a:solidFill>
                  <a:srgbClr val="A0A0B0"/>
                </a:solidFill>
                <a:latin typeface="Helvetica Neue"/>
              </a:rPr>
              <a:t>不依賴任何雲端服務或外部</a:t>
            </a:r>
            <a:r>
              <a:rPr sz="1300" b="0" dirty="0">
                <a:solidFill>
                  <a:srgbClr val="A0A0B0"/>
                </a:solidFill>
                <a:latin typeface="Helvetica Neue"/>
              </a:rPr>
              <a:t> API。</a:t>
            </a:r>
          </a:p>
          <a:p>
            <a:pPr algn="l"/>
            <a:endParaRPr lang="en-US" sz="1300" b="1" dirty="0">
              <a:solidFill>
                <a:srgbClr val="F9E2AF"/>
              </a:solidFill>
              <a:latin typeface="Helvetica Neue"/>
            </a:endParaRPr>
          </a:p>
          <a:p>
            <a:pPr algn="l"/>
            <a:r>
              <a:rPr sz="1300" b="1" dirty="0" err="1">
                <a:solidFill>
                  <a:srgbClr val="F9E2AF"/>
                </a:solidFill>
                <a:latin typeface="Helvetica Neue"/>
              </a:rPr>
              <a:t>數據零外洩</a:t>
            </a:r>
            <a:endParaRPr sz="1300" b="1" dirty="0">
              <a:solidFill>
                <a:srgbClr val="F9E2AF"/>
              </a:solidFill>
              <a:latin typeface="Helvetica Neue"/>
            </a:endParaRPr>
          </a:p>
          <a:p>
            <a:pPr algn="l"/>
            <a:r>
              <a:rPr sz="1300" b="0" dirty="0" err="1">
                <a:solidFill>
                  <a:srgbClr val="A0A0B0"/>
                </a:solidFill>
                <a:latin typeface="Helvetica Neue"/>
              </a:rPr>
              <a:t>影片、字幕及分析結果全部儲存於本地磁碟</a:t>
            </a:r>
            <a:r>
              <a:rPr sz="1300" b="0" dirty="0">
                <a:solidFill>
                  <a:srgbClr val="A0A0B0"/>
                </a:solidFill>
                <a:latin typeface="Helvetica Neue"/>
              </a:rPr>
              <a:t>，</a:t>
            </a:r>
          </a:p>
          <a:p>
            <a:pPr algn="l"/>
            <a:r>
              <a:rPr sz="1300" b="0" dirty="0" err="1">
                <a:solidFill>
                  <a:srgbClr val="A0A0B0"/>
                </a:solidFill>
                <a:latin typeface="Helvetica Neue"/>
              </a:rPr>
              <a:t>不經任何第三方伺服器，私隱完全受控</a:t>
            </a:r>
            <a:r>
              <a:rPr sz="1300" b="0" dirty="0">
                <a:solidFill>
                  <a:srgbClr val="A0A0B0"/>
                </a:solidFill>
                <a:latin typeface="Helvetica Neue"/>
              </a:rPr>
              <a:t>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2468880"/>
            <a:ext cx="3657600" cy="54864"/>
          </a:xfrm>
          <a:prstGeom prst="rect">
            <a:avLst/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2697480"/>
            <a:ext cx="365760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200" b="1">
                <a:solidFill>
                  <a:srgbClr val="F5F5FA"/>
                </a:solidFill>
                <a:latin typeface="Helvetica Neue"/>
              </a:rPr>
              <a:t>模塊化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383280"/>
            <a:ext cx="3657600" cy="63709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A0A0B0"/>
                </a:solidFill>
                <a:latin typeface="Helvetica Neue"/>
              </a:rPr>
              <a:t>ASR、翻譯、字型、Render 四個模塊獨立配置。</a:t>
            </a:r>
          </a:p>
          <a:p>
            <a:pPr algn="l"/>
            <a:r>
              <a:rPr sz="1300" b="0">
                <a:solidFill>
                  <a:srgbClr val="A0A0B0"/>
                </a:solidFill>
                <a:latin typeface="Helvetica Neue"/>
              </a:rPr>
              <a:t>Profile 非預設，而是樂高 — 可自由組合。</a:t>
            </a:r>
          </a:p>
          <a:p>
            <a:pPr algn="l"/>
            <a:r>
              <a:rPr sz="1300" b="0">
                <a:solidFill>
                  <a:srgbClr val="A0A0B0"/>
                </a:solidFill>
                <a:latin typeface="Helvetica Neue"/>
              </a:rPr>
              <a:t>更換引擎無需重做工作流程。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2468880"/>
            <a:ext cx="3657600" cy="54864"/>
          </a:xfrm>
          <a:prstGeom prst="rect">
            <a:avLst/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2697480"/>
            <a:ext cx="365760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200" b="1">
                <a:solidFill>
                  <a:srgbClr val="F5F5FA"/>
                </a:solidFill>
                <a:latin typeface="Helvetica Neue"/>
              </a:rPr>
              <a:t>廣播交付級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383280"/>
            <a:ext cx="3657600" cy="143731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 dirty="0" err="1">
                <a:solidFill>
                  <a:srgbClr val="A0A0B0"/>
                </a:solidFill>
                <a:latin typeface="Helvetica Neue"/>
              </a:rPr>
              <a:t>預覽畫面即燒入結果，所見即所得</a:t>
            </a:r>
            <a:r>
              <a:rPr sz="1300" b="0" dirty="0">
                <a:solidFill>
                  <a:srgbClr val="A0A0B0"/>
                </a:solidFill>
                <a:latin typeface="Helvetica Neue"/>
              </a:rPr>
              <a:t>。</a:t>
            </a:r>
          </a:p>
          <a:p>
            <a:pPr algn="l"/>
            <a:r>
              <a:rPr sz="1300" b="0" dirty="0">
                <a:solidFill>
                  <a:srgbClr val="A0A0B0"/>
                </a:solidFill>
                <a:latin typeface="Helvetica Neue"/>
              </a:rPr>
              <a:t>MXF </a:t>
            </a:r>
            <a:r>
              <a:rPr sz="1300" b="0" dirty="0" err="1">
                <a:solidFill>
                  <a:srgbClr val="A0A0B0"/>
                </a:solidFill>
                <a:latin typeface="Helvetica Neue"/>
              </a:rPr>
              <a:t>ProRes</a:t>
            </a:r>
            <a:r>
              <a:rPr sz="1300" b="0" dirty="0">
                <a:solidFill>
                  <a:srgbClr val="A0A0B0"/>
                </a:solidFill>
                <a:latin typeface="Helvetica Neue"/>
              </a:rPr>
              <a:t> 422 HQ + XDCAM HD 422 </a:t>
            </a:r>
            <a:r>
              <a:rPr sz="1300" b="0" dirty="0" err="1">
                <a:solidFill>
                  <a:srgbClr val="A0A0B0"/>
                </a:solidFill>
                <a:latin typeface="Helvetica Neue"/>
              </a:rPr>
              <a:t>直接輸出</a:t>
            </a:r>
            <a:r>
              <a:rPr sz="1300" b="0" dirty="0">
                <a:solidFill>
                  <a:srgbClr val="A0A0B0"/>
                </a:solidFill>
                <a:latin typeface="Helvetica Neue"/>
              </a:rPr>
              <a:t>。</a:t>
            </a:r>
          </a:p>
          <a:p>
            <a:pPr algn="l"/>
            <a:endParaRPr lang="en-US" sz="1300" b="1" dirty="0">
              <a:solidFill>
                <a:srgbClr val="F9E2AF"/>
              </a:solidFill>
              <a:latin typeface="Helvetica Neue"/>
            </a:endParaRPr>
          </a:p>
          <a:p>
            <a:pPr algn="l"/>
            <a:r>
              <a:rPr sz="1300" b="1" dirty="0" err="1">
                <a:solidFill>
                  <a:srgbClr val="F9E2AF"/>
                </a:solidFill>
                <a:latin typeface="Helvetica Neue"/>
              </a:rPr>
              <a:t>端對端本地處理</a:t>
            </a:r>
            <a:endParaRPr sz="1300" b="1" dirty="0">
              <a:solidFill>
                <a:srgbClr val="F9E2AF"/>
              </a:solidFill>
              <a:latin typeface="Helvetica Neue"/>
            </a:endParaRPr>
          </a:p>
          <a:p>
            <a:pPr algn="l"/>
            <a:r>
              <a:rPr sz="1300" b="0" dirty="0" err="1">
                <a:solidFill>
                  <a:srgbClr val="A0A0B0"/>
                </a:solidFill>
                <a:latin typeface="Helvetica Neue"/>
              </a:rPr>
              <a:t>從收音到輸出成片，全程在本地完成</a:t>
            </a:r>
            <a:r>
              <a:rPr sz="1300" b="0" dirty="0">
                <a:solidFill>
                  <a:srgbClr val="A0A0B0"/>
                </a:solidFill>
                <a:latin typeface="Helvetica Neue"/>
              </a:rPr>
              <a:t>，</a:t>
            </a:r>
          </a:p>
          <a:p>
            <a:pPr algn="l"/>
            <a:r>
              <a:rPr sz="1300" b="0" dirty="0" err="1">
                <a:solidFill>
                  <a:srgbClr val="A0A0B0"/>
                </a:solidFill>
                <a:latin typeface="Helvetica Neue"/>
              </a:rPr>
              <a:t>符合廣播機構的數據安全要求</a:t>
            </a:r>
            <a:r>
              <a:rPr sz="1300" b="0" dirty="0">
                <a:solidFill>
                  <a:srgbClr val="A0A0B0"/>
                </a:solidFill>
                <a:latin typeface="Helvetica Neue"/>
              </a:rPr>
              <a:t>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A0A0B0"/>
                </a:solidFill>
                <a:latin typeface="Helvetica Neue"/>
              </a:rPr>
              <a:t>MoTitle — 廣播字幕製作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A0A0B0"/>
                </a:solidFill>
                <a:latin typeface="Helvetica Neue"/>
              </a:rPr>
              <a:t>3 / 21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011A1A6-66B4-624C-8D88-E41CB5136158}"/>
              </a:ext>
            </a:extLst>
          </p:cNvPr>
          <p:cNvSpPr/>
          <p:nvPr/>
        </p:nvSpPr>
        <p:spPr>
          <a:xfrm>
            <a:off x="11607800" y="76200"/>
            <a:ext cx="508000" cy="533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19" name="Copied Picture 19">
            <a:extLst>
              <a:ext uri="{FF2B5EF4-FFF2-40B4-BE49-F238E27FC236}">
                <a16:creationId xmlns:a16="http://schemas.microsoft.com/office/drawing/2014/main" id="{FD7D184B-84B9-B349-494A-C733F2A42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3200" y="101600"/>
            <a:ext cx="4572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70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>
                <a:solidFill>
                  <a:srgbClr val="F9E2AF"/>
                </a:solidFill>
                <a:latin typeface="Helvetica Neue"/>
              </a:rPr>
              <a:t>Pipeline 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49859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>
                <a:solidFill>
                  <a:srgbClr val="F5F5FA"/>
                </a:solidFill>
                <a:latin typeface="Helvetica Neue"/>
              </a:rPr>
              <a:t>從原始視頻到燒入字幕的五個階段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148840" cy="2377440"/>
          </a:xfrm>
          <a:prstGeom prst="roundRect">
            <a:avLst>
              <a:gd name="adj" fmla="val 6000"/>
            </a:avLst>
          </a:prstGeom>
          <a:solidFill>
            <a:srgbClr val="18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214884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3200" b="0">
                <a:solidFill>
                  <a:srgbClr val="F9E2AF"/>
                </a:solidFill>
                <a:latin typeface="Helvetica Neue"/>
              </a:rPr>
              <a:t>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46120"/>
            <a:ext cx="214884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500" b="1">
                <a:solidFill>
                  <a:srgbClr val="F5F5FA"/>
                </a:solidFill>
                <a:latin typeface="Helvetica Neue"/>
              </a:rPr>
              <a:t>原始視頻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57600"/>
            <a:ext cx="1874520" cy="1097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0">
                <a:solidFill>
                  <a:srgbClr val="A0A0B0"/>
                </a:solidFill>
                <a:latin typeface="Helvetica Neue"/>
              </a:rPr>
              <a:t>MP4 / MXF / MOV / MKV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88920" y="3429000"/>
            <a:ext cx="164592" cy="274320"/>
          </a:xfrm>
          <a:prstGeom prst="rightArrow">
            <a:avLst/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953512" y="2377440"/>
            <a:ext cx="2148840" cy="2377440"/>
          </a:xfrm>
          <a:prstGeom prst="roundRect">
            <a:avLst>
              <a:gd name="adj" fmla="val 6000"/>
            </a:avLst>
          </a:prstGeom>
          <a:solidFill>
            <a:srgbClr val="18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53512" y="2560320"/>
            <a:ext cx="214884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3200" b="0">
                <a:solidFill>
                  <a:srgbClr val="F9E2AF"/>
                </a:solidFill>
                <a:latin typeface="Helvetica Neue"/>
              </a:rPr>
              <a:t>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3512" y="3246120"/>
            <a:ext cx="214884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500" b="1">
                <a:solidFill>
                  <a:srgbClr val="F5F5FA"/>
                </a:solidFill>
                <a:latin typeface="Helvetica Neue"/>
              </a:rPr>
              <a:t>ASR 轉錄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672" y="3657600"/>
            <a:ext cx="1874520" cy="19082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0" dirty="0">
                <a:solidFill>
                  <a:srgbClr val="A0A0B0"/>
                </a:solidFill>
                <a:latin typeface="Helvetica Neue"/>
              </a:rPr>
              <a:t>large-v3 / medium / small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102352" y="3429000"/>
            <a:ext cx="164592" cy="274320"/>
          </a:xfrm>
          <a:prstGeom prst="rightArrow">
            <a:avLst/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266944" y="2377440"/>
            <a:ext cx="2148840" cy="2377440"/>
          </a:xfrm>
          <a:prstGeom prst="roundRect">
            <a:avLst>
              <a:gd name="adj" fmla="val 6000"/>
            </a:avLst>
          </a:prstGeom>
          <a:solidFill>
            <a:srgbClr val="18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66944" y="2560320"/>
            <a:ext cx="214884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3200" b="0">
                <a:solidFill>
                  <a:srgbClr val="F9E2AF"/>
                </a:solidFill>
                <a:latin typeface="Helvetica Neue"/>
              </a:rPr>
              <a:t>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6944" y="3246120"/>
            <a:ext cx="214884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500" b="1">
                <a:solidFill>
                  <a:srgbClr val="F5F5FA"/>
                </a:solidFill>
                <a:latin typeface="Helvetica Neue"/>
              </a:rPr>
              <a:t>翻譯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4104" y="3657600"/>
            <a:ext cx="1874520" cy="37548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lang="zh-TW" altLang="en-US" sz="1100" dirty="0">
                <a:solidFill>
                  <a:srgbClr val="A0A0B0"/>
                </a:solidFill>
                <a:latin typeface="Helvetica Neue"/>
              </a:rPr>
              <a:t>本地 </a:t>
            </a:r>
            <a:r>
              <a:rPr lang="en-US" sz="1100" dirty="0">
                <a:solidFill>
                  <a:srgbClr val="A0A0B0"/>
                </a:solidFill>
                <a:latin typeface="Helvetica Neue"/>
              </a:rPr>
              <a:t>AI </a:t>
            </a:r>
            <a:r>
              <a:rPr lang="zh-TW" altLang="en-US" sz="1100" dirty="0">
                <a:solidFill>
                  <a:srgbClr val="A0A0B0"/>
                </a:solidFill>
                <a:latin typeface="Helvetica Neue"/>
              </a:rPr>
              <a:t>模型翻譯</a:t>
            </a:r>
            <a:endParaRPr lang="en-US" altLang="zh-TW" sz="1100" dirty="0">
              <a:solidFill>
                <a:srgbClr val="A0A0B0"/>
              </a:solidFill>
              <a:latin typeface="Helvetica Neue"/>
            </a:endParaRPr>
          </a:p>
          <a:p>
            <a:pPr algn="ctr"/>
            <a:r>
              <a:rPr lang="en-US" sz="1100" b="0" dirty="0">
                <a:solidFill>
                  <a:srgbClr val="A0A0B0"/>
                </a:solidFill>
                <a:latin typeface="Helvetica Neue"/>
              </a:rPr>
              <a:t>(</a:t>
            </a:r>
            <a:r>
              <a:rPr lang="zh-TW" altLang="en-US" sz="1100" dirty="0">
                <a:solidFill>
                  <a:srgbClr val="A0A0B0"/>
                </a:solidFill>
                <a:latin typeface="Helvetica Neue"/>
              </a:rPr>
              <a:t>可以訓練模型</a:t>
            </a:r>
            <a:r>
              <a:rPr lang="en-US" sz="1100" b="0" dirty="0">
                <a:solidFill>
                  <a:srgbClr val="A0A0B0"/>
                </a:solidFill>
                <a:latin typeface="Helvetica Neue"/>
              </a:rPr>
              <a:t>)</a:t>
            </a:r>
            <a:endParaRPr sz="1100" b="0" dirty="0">
              <a:solidFill>
                <a:srgbClr val="A0A0B0"/>
              </a:solidFill>
              <a:latin typeface="Helvetica Neue"/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7415784" y="3429000"/>
            <a:ext cx="164592" cy="274320"/>
          </a:xfrm>
          <a:prstGeom prst="rightArrow">
            <a:avLst/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580376" y="2377440"/>
            <a:ext cx="2148840" cy="2377440"/>
          </a:xfrm>
          <a:prstGeom prst="roundRect">
            <a:avLst>
              <a:gd name="adj" fmla="val 6000"/>
            </a:avLst>
          </a:prstGeom>
          <a:solidFill>
            <a:srgbClr val="18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0376" y="2560320"/>
            <a:ext cx="214884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3200" b="0">
                <a:solidFill>
                  <a:srgbClr val="F9E2AF"/>
                </a:solidFill>
                <a:latin typeface="Helvetica Neue"/>
              </a:rPr>
              <a:t>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0376" y="3246120"/>
            <a:ext cx="214884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500" b="1">
                <a:solidFill>
                  <a:srgbClr val="F5F5FA"/>
                </a:solidFill>
                <a:latin typeface="Helvetica Neue"/>
              </a:rPr>
              <a:t>校對 &amp; 詞彙表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17536" y="3657600"/>
            <a:ext cx="1874520" cy="71404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Proofread editor · Glossary apply</a:t>
            </a:r>
          </a:p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LLM 智能替換 + 可逆 baseline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729216" y="3429000"/>
            <a:ext cx="164592" cy="274320"/>
          </a:xfrm>
          <a:prstGeom prst="rightArrow">
            <a:avLst/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893808" y="2377440"/>
            <a:ext cx="2148840" cy="2377440"/>
          </a:xfrm>
          <a:prstGeom prst="roundRect">
            <a:avLst>
              <a:gd name="adj" fmla="val 6000"/>
            </a:avLst>
          </a:prstGeom>
          <a:solidFill>
            <a:srgbClr val="18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93808" y="2560320"/>
            <a:ext cx="214884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3200" b="0">
                <a:solidFill>
                  <a:srgbClr val="F9E2AF"/>
                </a:solidFill>
                <a:latin typeface="Helvetica Neue"/>
              </a:rPr>
              <a:t>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93808" y="3246120"/>
            <a:ext cx="214884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500" b="1">
                <a:solidFill>
                  <a:srgbClr val="F5F5FA"/>
                </a:solidFill>
                <a:latin typeface="Helvetica Neue"/>
              </a:rPr>
              <a:t>渲染輸出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30968" y="3657600"/>
            <a:ext cx="1874520" cy="1097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0">
                <a:solidFill>
                  <a:srgbClr val="A0A0B0"/>
                </a:solidFill>
                <a:latin typeface="Helvetica Neue"/>
              </a:rPr>
              <a:t>MP4 H.264 (CRF/CBR/2pass)</a:t>
            </a:r>
          </a:p>
          <a:p>
            <a:pPr algn="ctr"/>
            <a:r>
              <a:rPr sz="1000" b="0">
                <a:solidFill>
                  <a:srgbClr val="A0A0B0"/>
                </a:solidFill>
                <a:latin typeface="Helvetica Neue"/>
              </a:rPr>
              <a:t>MXF ProRes / XDCAM HD 422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029200"/>
            <a:ext cx="10972800" cy="23698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300" b="0">
                <a:solidFill>
                  <a:srgbClr val="F9E2AF"/>
                </a:solidFill>
                <a:latin typeface="Helvetica Neue"/>
              </a:rPr>
              <a:t>每一階段的輸出即為下一階段的輸入；任何步驟均可暫停、重做或更換引擎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A0A0B0"/>
                </a:solidFill>
                <a:latin typeface="Helvetica Neue"/>
              </a:rPr>
              <a:t>MoTitle — 廣播字幕製作 Pipeline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A0A0B0"/>
                </a:solidFill>
                <a:latin typeface="Helvetica Neue"/>
              </a:rPr>
              <a:t>4 / 21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F4441B3-EEE5-7F42-BD12-DC0A560D19AF}"/>
              </a:ext>
            </a:extLst>
          </p:cNvPr>
          <p:cNvSpPr/>
          <p:nvPr/>
        </p:nvSpPr>
        <p:spPr>
          <a:xfrm>
            <a:off x="11607800" y="76200"/>
            <a:ext cx="508000" cy="533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34" name="Copied Picture 34">
            <a:extLst>
              <a:ext uri="{FF2B5EF4-FFF2-40B4-BE49-F238E27FC236}">
                <a16:creationId xmlns:a16="http://schemas.microsoft.com/office/drawing/2014/main" id="{FD7D184B-84B9-B349-494A-C733F2A42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3200" y="101600"/>
            <a:ext cx="4572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859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>
                <a:solidFill>
                  <a:srgbClr val="F9E2AF"/>
                </a:solidFill>
                <a:latin typeface="Helvetica Neue"/>
              </a:rPr>
              <a:t>功能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>
                <a:solidFill>
                  <a:srgbClr val="F5F5FA"/>
                </a:solidFill>
                <a:latin typeface="Helvetica Neue"/>
              </a:rPr>
              <a:t>Dashboard — 一站式工作台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7040880" cy="4526280"/>
          </a:xfrm>
          <a:prstGeom prst="rect">
            <a:avLst/>
          </a:prstGeom>
          <a:solidFill>
            <a:srgbClr val="181822"/>
          </a:solidFill>
          <a:ln w="12700">
            <a:solidFill>
              <a:srgbClr val="3838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1_dashboard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949440" cy="4434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0" y="1828800"/>
            <a:ext cx="402336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F9E2AF"/>
                </a:solidFill>
                <a:latin typeface="Helvetica Neue"/>
              </a:rPr>
              <a:t>重點功能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331720"/>
            <a:ext cx="6350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000" b="1">
                <a:solidFill>
                  <a:srgbClr val="F5F5FA"/>
                </a:solidFill>
              </a:rPr>
              <a:t> 檔案管理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715768"/>
            <a:ext cx="4023360" cy="37548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拖放上傳、即時轉錄進度顯示、ETA 估算及 segment 即時預覽。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3474720"/>
            <a:ext cx="10033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000" b="1">
                <a:solidFill>
                  <a:srgbClr val="F5F5FA"/>
                </a:solidFill>
              </a:rPr>
              <a:t> Profile 切換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858768"/>
            <a:ext cx="4023360" cy="37548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頂部下拉選單可即時切換 active Profile，所有後續工作流程隨之更新。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4617720"/>
            <a:ext cx="6350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000" b="1" dirty="0">
                <a:solidFill>
                  <a:srgbClr val="F5F5FA"/>
                </a:solidFill>
              </a:rPr>
              <a:t> </a:t>
            </a:r>
            <a:r>
              <a:rPr sz="1000" b="1" dirty="0" err="1">
                <a:solidFill>
                  <a:srgbClr val="F5F5FA"/>
                </a:solidFill>
              </a:rPr>
              <a:t>狀態追蹤</a:t>
            </a:r>
            <a:r>
              <a:rPr sz="1000" b="1" dirty="0">
                <a:solidFill>
                  <a:srgbClr val="F5F5FA"/>
                </a:solidFill>
              </a:rP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5001768"/>
            <a:ext cx="4023360" cy="2062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ASR 狀態、翻譯狀態、審批進度及渲染進度均完整呈現。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5760720"/>
            <a:ext cx="6350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000" b="1">
                <a:solidFill>
                  <a:srgbClr val="F5F5FA"/>
                </a:solidFill>
              </a:rPr>
              <a:t> 快速渲染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144768"/>
            <a:ext cx="4023360" cy="2062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MP4 / MXF / XDCAM 三個常用預設格式，一鍵燒入。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A0A0B0"/>
                </a:solidFill>
                <a:latin typeface="Helvetica Neue"/>
              </a:rPr>
              <a:t>MoTitle — 廣播字幕製作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A0A0B0"/>
                </a:solidFill>
                <a:latin typeface="Helvetica Neue"/>
              </a:rPr>
              <a:t>5 / 21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383066-56C8-304A-820C-CD682EC69F43}"/>
              </a:ext>
            </a:extLst>
          </p:cNvPr>
          <p:cNvSpPr/>
          <p:nvPr/>
        </p:nvSpPr>
        <p:spPr>
          <a:xfrm>
            <a:off x="11607800" y="76200"/>
            <a:ext cx="508000" cy="533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20" name="Copied Picture 20">
            <a:extLst>
              <a:ext uri="{FF2B5EF4-FFF2-40B4-BE49-F238E27FC236}">
                <a16:creationId xmlns:a16="http://schemas.microsoft.com/office/drawing/2014/main" id="{FD7D184B-84B9-B349-494A-C733F2A42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3200" y="101600"/>
            <a:ext cx="4572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557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>
                <a:solidFill>
                  <a:srgbClr val="F9E2AF"/>
                </a:solidFill>
                <a:latin typeface="Helvetica Neue"/>
              </a:rPr>
              <a:t>功能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>
                <a:solidFill>
                  <a:srgbClr val="F5F5FA"/>
                </a:solidFill>
                <a:latin typeface="Helvetica Neue"/>
              </a:rPr>
              <a:t>Profile 編輯器 — 模塊化參數面板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7040880" cy="4526280"/>
          </a:xfrm>
          <a:prstGeom prst="rect">
            <a:avLst/>
          </a:prstGeom>
          <a:solidFill>
            <a:srgbClr val="181822"/>
          </a:solidFill>
          <a:ln w="12700">
            <a:solidFill>
              <a:srgbClr val="3838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2_profile_editor.png"/>
          <p:cNvPicPr>
            <a:picLocks noChangeAspect="1"/>
          </p:cNvPicPr>
          <p:nvPr/>
        </p:nvPicPr>
        <p:blipFill>
          <a:blip r:embed="rId2"/>
          <a:srcRect l="44238" b="44238"/>
          <a:stretch>
            <a:fillRect/>
          </a:stretch>
        </p:blipFill>
        <p:spPr>
          <a:xfrm>
            <a:off x="570547" y="1828800"/>
            <a:ext cx="6927533" cy="44208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0" y="1828800"/>
            <a:ext cx="402336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F9E2AF"/>
                </a:solidFill>
                <a:latin typeface="Helvetica Neue"/>
              </a:rPr>
              <a:t>重點功能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331720"/>
            <a:ext cx="6350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000" b="1">
                <a:solidFill>
                  <a:srgbClr val="F5F5FA"/>
                </a:solidFill>
              </a:rPr>
              <a:t> 分區編輯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715768"/>
            <a:ext cx="4023360" cy="2062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ASR、翻譯、字型、Render 四個可摺疊區塊分別配置。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347472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000" b="1">
                <a:solidFill>
                  <a:srgbClr val="F5F5FA"/>
                </a:solidFill>
              </a:rPr>
              <a:t> 動態 Schema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858768"/>
            <a:ext cx="4023360" cy="2062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切換引擎時，參數面板依據 schema 即時重新渲染。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461772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000" b="1">
                <a:solidFill>
                  <a:srgbClr val="F5F5FA"/>
                </a:solidFill>
              </a:rPr>
              <a:t> Active 保護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5001768"/>
            <a:ext cx="4023360" cy="2062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Active Profile 不可被刪除（防誤操作保護）。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5760720"/>
            <a:ext cx="6350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000" b="1">
                <a:solidFill>
                  <a:srgbClr val="F5F5FA"/>
                </a:solidFill>
              </a:rPr>
              <a:t> 即時生效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144768"/>
            <a:ext cx="4023360" cy="2062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儲存後 Socket.IO 即時通知所有已開啟的頁籤。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A0A0B0"/>
                </a:solidFill>
                <a:latin typeface="Helvetica Neue"/>
              </a:rPr>
              <a:t>MoTitle — 廣播字幕製作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A0A0B0"/>
                </a:solidFill>
                <a:latin typeface="Helvetica Neue"/>
              </a:rPr>
              <a:t>6 / 21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4B901D3-8C12-ED41-92CC-C88FAC6D4987}"/>
              </a:ext>
            </a:extLst>
          </p:cNvPr>
          <p:cNvSpPr/>
          <p:nvPr/>
        </p:nvSpPr>
        <p:spPr>
          <a:xfrm>
            <a:off x="11607800" y="76200"/>
            <a:ext cx="508000" cy="533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20" name="Copied Picture 20">
            <a:extLst>
              <a:ext uri="{FF2B5EF4-FFF2-40B4-BE49-F238E27FC236}">
                <a16:creationId xmlns:a16="http://schemas.microsoft.com/office/drawing/2014/main" id="{FD7D184B-84B9-B349-494A-C733F2A42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3200" y="101600"/>
            <a:ext cx="4572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540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>
                <a:solidFill>
                  <a:srgbClr val="F9E2AF"/>
                </a:solidFill>
                <a:latin typeface="Helvetica Neue"/>
              </a:rPr>
              <a:t>功能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>
                <a:solidFill>
                  <a:srgbClr val="F5F5FA"/>
                </a:solidFill>
                <a:latin typeface="Helvetica Neue"/>
              </a:rPr>
              <a:t>Proofread Editor — 校對工作台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7040880" cy="4526280"/>
          </a:xfrm>
          <a:prstGeom prst="rect">
            <a:avLst/>
          </a:prstGeom>
          <a:solidFill>
            <a:srgbClr val="181822"/>
          </a:solidFill>
          <a:ln w="12700">
            <a:solidFill>
              <a:srgbClr val="3838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3_proofread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949440" cy="4434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0" y="1828800"/>
            <a:ext cx="402336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F9E2AF"/>
                </a:solidFill>
                <a:latin typeface="Helvetica Neue"/>
              </a:rPr>
              <a:t>重點功能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331720"/>
            <a:ext cx="6350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000" b="1">
                <a:solidFill>
                  <a:srgbClr val="F5F5FA"/>
                </a:solidFill>
              </a:rPr>
              <a:t> 並排佈局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715768"/>
            <a:ext cx="4023360" cy="2062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左側視頻 + 右側段落列表，影片時間軸與 segment 即時同步。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3474720"/>
            <a:ext cx="6350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000" b="1">
                <a:solidFill>
                  <a:srgbClr val="F5F5FA"/>
                </a:solidFill>
              </a:rPr>
              <a:t> 逐句編輯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858768"/>
            <a:ext cx="4023360" cy="2062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Inline 編輯 zh_text，自動標記為已審批。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4617720"/>
            <a:ext cx="6350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000" b="1">
                <a:solidFill>
                  <a:srgbClr val="F5F5FA"/>
                </a:solidFill>
              </a:rPr>
              <a:t> 批量批核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5001768"/>
            <a:ext cx="4023360" cy="2062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「全部審批」一次完成，同事可逐條查閱審批狀態。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5760720"/>
            <a:ext cx="5080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000" b="1">
                <a:solidFill>
                  <a:srgbClr val="F5F5FA"/>
                </a:solidFill>
              </a:rPr>
              <a:t> 快捷鍵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144768"/>
            <a:ext cx="4023360" cy="2062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Cmd+F 搜尋替換、Enter 審批、Esc 取消。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A0A0B0"/>
                </a:solidFill>
                <a:latin typeface="Helvetica Neue"/>
              </a:rPr>
              <a:t>MoTitle — 廣播字幕製作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A0A0B0"/>
                </a:solidFill>
                <a:latin typeface="Helvetica Neue"/>
              </a:rPr>
              <a:t>7 / 21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488C1D-F78E-8246-9736-1C4852306C76}"/>
              </a:ext>
            </a:extLst>
          </p:cNvPr>
          <p:cNvSpPr/>
          <p:nvPr/>
        </p:nvSpPr>
        <p:spPr>
          <a:xfrm>
            <a:off x="11607800" y="76200"/>
            <a:ext cx="508000" cy="533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20" name="Copied Picture 20">
            <a:extLst>
              <a:ext uri="{FF2B5EF4-FFF2-40B4-BE49-F238E27FC236}">
                <a16:creationId xmlns:a16="http://schemas.microsoft.com/office/drawing/2014/main" id="{FD7D184B-84B9-B349-494A-C733F2A42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3200" y="101600"/>
            <a:ext cx="4572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349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>
                <a:solidFill>
                  <a:srgbClr val="F9E2AF"/>
                </a:solidFill>
                <a:latin typeface="Helvetica Neue"/>
              </a:rPr>
              <a:t>功能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>
                <a:solidFill>
                  <a:srgbClr val="F5F5FA"/>
                </a:solidFill>
                <a:latin typeface="Helvetica Neue"/>
              </a:rPr>
              <a:t>Segment Detail — 句子級操作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7040880" cy="4526280"/>
          </a:xfrm>
          <a:prstGeom prst="rect">
            <a:avLst/>
          </a:prstGeom>
          <a:solidFill>
            <a:srgbClr val="181822"/>
          </a:solidFill>
          <a:ln w="12700">
            <a:solidFill>
              <a:srgbClr val="3838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4_proofread_segment_detail.png"/>
          <p:cNvPicPr>
            <a:picLocks noChangeAspect="1"/>
          </p:cNvPicPr>
          <p:nvPr/>
        </p:nvPicPr>
        <p:blipFill>
          <a:blip r:embed="rId2"/>
          <a:srcRect l="62273" t="2680" r="-790" b="55742"/>
          <a:stretch>
            <a:fillRect/>
          </a:stretch>
        </p:blipFill>
        <p:spPr>
          <a:xfrm>
            <a:off x="530352" y="1783080"/>
            <a:ext cx="7123176" cy="43773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0" y="1828800"/>
            <a:ext cx="402336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F9E2AF"/>
                </a:solidFill>
                <a:latin typeface="Helvetica Neue"/>
              </a:rPr>
              <a:t>重點功能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331720"/>
            <a:ext cx="6350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000" b="1">
                <a:solidFill>
                  <a:srgbClr val="F5F5FA"/>
                </a:solidFill>
              </a:rPr>
              <a:t> 英中對照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715768"/>
            <a:ext cx="4023360" cy="2062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英文原文與中文譯文並排顯示，即時對齊。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3474720"/>
            <a:ext cx="7620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000" b="1">
                <a:solidFill>
                  <a:srgbClr val="F5F5FA"/>
                </a:solidFill>
              </a:rPr>
              <a:t> 時間碼編輯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858768"/>
            <a:ext cx="4023360" cy="2062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微調入出點，影片自動跳轉至對應位置。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4617720"/>
            <a:ext cx="7493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000" b="1">
                <a:solidFill>
                  <a:srgbClr val="F5F5FA"/>
                </a:solidFill>
              </a:rPr>
              <a:t> QA Flags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5001768"/>
            <a:ext cx="4023360" cy="2062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[long] / [review] 結構化標記 — 不污染譯文內容。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5760720"/>
            <a:ext cx="10033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000" b="1">
                <a:solidFill>
                  <a:srgbClr val="F5F5FA"/>
                </a:solidFill>
              </a:rPr>
              <a:t> Speaker 標籤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144768"/>
            <a:ext cx="4023360" cy="2062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可選說話者姓名標記，輔助多人對話字幕製作。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A0A0B0"/>
                </a:solidFill>
                <a:latin typeface="Helvetica Neue"/>
              </a:rPr>
              <a:t>MoTitle — 廣播字幕製作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A0A0B0"/>
                </a:solidFill>
                <a:latin typeface="Helvetica Neue"/>
              </a:rPr>
              <a:t>8 / 21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137C810-C696-8A41-8123-A0B4B128E97C}"/>
              </a:ext>
            </a:extLst>
          </p:cNvPr>
          <p:cNvSpPr/>
          <p:nvPr/>
        </p:nvSpPr>
        <p:spPr>
          <a:xfrm>
            <a:off x="11607800" y="76200"/>
            <a:ext cx="508000" cy="533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20" name="Copied Picture 20">
            <a:extLst>
              <a:ext uri="{FF2B5EF4-FFF2-40B4-BE49-F238E27FC236}">
                <a16:creationId xmlns:a16="http://schemas.microsoft.com/office/drawing/2014/main" id="{FD7D184B-84B9-B349-494A-C733F2A42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3200" y="101600"/>
            <a:ext cx="4572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114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>
                <a:solidFill>
                  <a:srgbClr val="F9E2AF"/>
                </a:solidFill>
                <a:latin typeface="Helvetica Neue"/>
              </a:rPr>
              <a:t>功能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>
                <a:solidFill>
                  <a:srgbClr val="F5F5FA"/>
                </a:solidFill>
                <a:latin typeface="Helvetica Neue"/>
              </a:rPr>
              <a:t>詞彙表 Panel — 即時編輯 + 自動選擇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7040880" cy="4526280"/>
          </a:xfrm>
          <a:prstGeom prst="rect">
            <a:avLst/>
          </a:prstGeom>
          <a:solidFill>
            <a:srgbClr val="181822"/>
          </a:solidFill>
          <a:ln w="12700">
            <a:solidFill>
              <a:srgbClr val="3838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5_glossary_panel.png"/>
          <p:cNvPicPr>
            <a:picLocks noChangeAspect="1"/>
          </p:cNvPicPr>
          <p:nvPr/>
        </p:nvPicPr>
        <p:blipFill>
          <a:blip r:embed="rId2"/>
          <a:srcRect t="23510" r="23510"/>
          <a:stretch>
            <a:fillRect/>
          </a:stretch>
        </p:blipFill>
        <p:spPr>
          <a:xfrm>
            <a:off x="548640" y="1799624"/>
            <a:ext cx="6995160" cy="44640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0" y="1828800"/>
            <a:ext cx="402336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F9E2AF"/>
                </a:solidFill>
                <a:latin typeface="Helvetica Neue"/>
              </a:rPr>
              <a:t>重點功能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331720"/>
            <a:ext cx="17399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000" b="1">
                <a:solidFill>
                  <a:srgbClr val="F5F5FA"/>
                </a:solidFill>
              </a:rPr>
              <a:t> Pipeline Auto-select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715768"/>
            <a:ext cx="4023360" cy="37548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頁面載入時自動選取 Profile 配置的詞彙表，省去下拉選單操作。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3474720"/>
            <a:ext cx="13589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000" b="1">
                <a:solidFill>
                  <a:srgbClr val="F5F5FA"/>
                </a:solidFill>
              </a:rPr>
              <a:t> Inline 增 / 改 / 刪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858768"/>
            <a:ext cx="4023360" cy="2062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新增、編輯及刪除均在面板內完成，無需跳出至彈窗。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4617720"/>
            <a:ext cx="10541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000" b="1">
                <a:solidFill>
                  <a:srgbClr val="F5F5FA"/>
                </a:solidFill>
              </a:rPr>
              <a:t> 儲存 / 取消按鈕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5001768"/>
            <a:ext cx="4023360" cy="2062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明顯標示的按鈕 + Enter / Esc 鍵盤支援，降低誤操作風險。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5760720"/>
            <a:ext cx="15621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000" b="1">
                <a:solidFill>
                  <a:srgbClr val="F5F5FA"/>
                </a:solidFill>
              </a:rPr>
              <a:t> CSV Import / Export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144768"/>
            <a:ext cx="4023360" cy="2062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現有詞彙表可一鍵匯入；新建詞彙表可一鍵備份。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A0A0B0"/>
                </a:solidFill>
                <a:latin typeface="Helvetica Neue"/>
              </a:rPr>
              <a:t>MoTitle — 廣播字幕製作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A0A0B0"/>
                </a:solidFill>
                <a:latin typeface="Helvetica Neue"/>
              </a:rPr>
              <a:t>9 / 21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E2E33FD-05EC-254E-A188-359609C81756}"/>
              </a:ext>
            </a:extLst>
          </p:cNvPr>
          <p:cNvSpPr/>
          <p:nvPr/>
        </p:nvSpPr>
        <p:spPr>
          <a:xfrm>
            <a:off x="11607800" y="76200"/>
            <a:ext cx="508000" cy="533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20" name="Copied Picture 20">
            <a:extLst>
              <a:ext uri="{FF2B5EF4-FFF2-40B4-BE49-F238E27FC236}">
                <a16:creationId xmlns:a16="http://schemas.microsoft.com/office/drawing/2014/main" id="{FD7D184B-84B9-B349-494A-C733F2A42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3200" y="101600"/>
            <a:ext cx="4572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221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>
                <a:solidFill>
                  <a:srgbClr val="F9E2AF"/>
                </a:solidFill>
                <a:latin typeface="Helvetica Neue"/>
              </a:rPr>
              <a:t>★ 旗艦功能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>
                <a:solidFill>
                  <a:srgbClr val="F5F5FA"/>
                </a:solidFill>
                <a:latin typeface="Helvetica Neue"/>
              </a:rPr>
              <a:t>Glossary Apply — EN 高亮 + LLM 智能替換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7040880" cy="4526280"/>
          </a:xfrm>
          <a:prstGeom prst="rect">
            <a:avLst/>
          </a:prstGeom>
          <a:solidFill>
            <a:srgbClr val="181822"/>
          </a:solidFill>
          <a:ln w="12700">
            <a:solidFill>
              <a:srgbClr val="3838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7_glossary_apply_modal.png"/>
          <p:cNvPicPr>
            <a:picLocks noChangeAspect="1"/>
          </p:cNvPicPr>
          <p:nvPr/>
        </p:nvPicPr>
        <p:blipFill>
          <a:blip r:embed="rId2"/>
          <a:srcRect l="19498" t="16289" r="14691" b="17900"/>
          <a:stretch>
            <a:fillRect/>
          </a:stretch>
        </p:blipFill>
        <p:spPr>
          <a:xfrm>
            <a:off x="530352" y="1828800"/>
            <a:ext cx="6987334" cy="44590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0" y="1828800"/>
            <a:ext cx="402336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F9E2AF"/>
                </a:solidFill>
                <a:latin typeface="Helvetica Neue"/>
              </a:rPr>
              <a:t>重點功能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331720"/>
            <a:ext cx="9525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000" b="1">
                <a:solidFill>
                  <a:srgbClr val="F5F5FA"/>
                </a:solidFill>
              </a:rPr>
              <a:t> 3 行 Row 佈局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715768"/>
            <a:ext cx="4023360" cy="37548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術語標題 + 英文原文 + 中文譯文三行佈局。英文永久高亮詞彙；中文若已含目標詞則標記符合。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3474720"/>
            <a:ext cx="6350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000" b="1">
                <a:solidFill>
                  <a:srgbClr val="F5F5FA"/>
                </a:solidFill>
              </a:rPr>
              <a:t> 提示文字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858768"/>
            <a:ext cx="4023360" cy="37548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違規行顯示 ⚠ 表示 LLM 將判斷修改位置；已符合行顯示 ✓（強制重套則標記 ⚠ 強制重新套用）。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4617720"/>
            <a:ext cx="9271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000" b="1">
                <a:solidFill>
                  <a:srgbClr val="F5F5FA"/>
                </a:solidFill>
              </a:rPr>
              <a:t> LLM 智能替換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5001768"/>
            <a:ext cx="4023360" cy="37548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非簡單字串替換 — 整段 segment 交由 LLM 處理，保留語法時態，僅修改指定詞彙。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5760720"/>
            <a:ext cx="16510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000" b="1">
                <a:solidFill>
                  <a:srgbClr val="F5F5FA"/>
                </a:solidFill>
              </a:rPr>
              <a:t> Word-boundary Match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144768"/>
            <a:ext cx="4023360" cy="37548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「US」不會匹配「must」/「trust」/「USA」（前後端正則表達式完全一致）。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A0A0B0"/>
                </a:solidFill>
                <a:latin typeface="Helvetica Neue"/>
              </a:rPr>
              <a:t>MoTitle — 廣播字幕製作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A0A0B0"/>
                </a:solidFill>
                <a:latin typeface="Helvetica Neue"/>
              </a:rPr>
              <a:t>10 / 21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579FEC-5A88-894E-B311-822A2C93C45D}"/>
              </a:ext>
            </a:extLst>
          </p:cNvPr>
          <p:cNvSpPr/>
          <p:nvPr/>
        </p:nvSpPr>
        <p:spPr>
          <a:xfrm>
            <a:off x="11607800" y="76200"/>
            <a:ext cx="508000" cy="533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20" name="Copied Picture 20">
            <a:extLst>
              <a:ext uri="{FF2B5EF4-FFF2-40B4-BE49-F238E27FC236}">
                <a16:creationId xmlns:a16="http://schemas.microsoft.com/office/drawing/2014/main" id="{FD7D184B-84B9-B349-494A-C733F2A42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3200" y="101600"/>
            <a:ext cx="4572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67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>
                <a:solidFill>
                  <a:srgbClr val="F9E2AF"/>
                </a:solidFill>
                <a:latin typeface="Helvetica Neue"/>
              </a:rPr>
              <a:t>★ 獨有機制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>
                <a:solidFill>
                  <a:srgbClr val="F5F5FA"/>
                </a:solidFill>
                <a:latin typeface="Helvetica Neue"/>
              </a:rPr>
              <a:t>Per-segment Baseline + 自動回滾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>
                <a:solidFill>
                  <a:srgbClr val="A0A0B0"/>
                </a:solidFill>
                <a:latin typeface="Helvetica Neue"/>
              </a:rPr>
              <a:t>業界現有商業軟件均未採用此機制 — fire-and-forget 的死局在 MoTitle 不存在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3291840" cy="3108960"/>
          </a:xfrm>
          <a:prstGeom prst="roundRect">
            <a:avLst>
              <a:gd name="adj" fmla="val 4000"/>
            </a:avLst>
          </a:prstGeom>
          <a:solidFill>
            <a:srgbClr val="18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2423160"/>
            <a:ext cx="5842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000" b="1">
                <a:solidFill>
                  <a:srgbClr val="F5F5FA"/>
                </a:solidFill>
              </a:rPr>
              <a:t> Step 1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27432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F9E2AF"/>
                </a:solidFill>
                <a:latin typeface="Helvetica Neue"/>
              </a:rPr>
              <a:t>初次翻譯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2743200" cy="88331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EN: "in the US"</a:t>
            </a:r>
          </a:p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ZH: 「在美國」</a:t>
            </a:r>
          </a:p>
          <a:p>
            <a:pPr algn="l"/>
            <a:endParaRPr sz="1100" b="0">
              <a:solidFill>
                <a:srgbClr val="A0A0B0"/>
              </a:solidFill>
              <a:latin typeface="Helvetica Neue"/>
            </a:endParaRPr>
          </a:p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baseline_zh = 在美國</a:t>
            </a:r>
          </a:p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applied_terms = []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2743200" cy="3447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A0A0B0"/>
                </a:solidFill>
                <a:latin typeface="Helvetica Neue"/>
              </a:rPr>
              <a:t>寫入 ZH 譯文時，同步建立 baseline_zh 副本。</a:t>
            </a:r>
          </a:p>
          <a:p>
            <a:pPr algn="l"/>
            <a:r>
              <a:rPr sz="1000" b="0">
                <a:solidFill>
                  <a:srgbClr val="A0A0B0"/>
                </a:solidFill>
                <a:latin typeface="Helvetica Neue"/>
              </a:rPr>
              <a:t>建立 baseline_zh 副本。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977640" y="3611880"/>
            <a:ext cx="365760" cy="274320"/>
          </a:xfrm>
          <a:prstGeom prst="rightArrow">
            <a:avLst/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389120" y="2194560"/>
            <a:ext cx="3291840" cy="3108960"/>
          </a:xfrm>
          <a:prstGeom prst="roundRect">
            <a:avLst>
              <a:gd name="adj" fmla="val 4000"/>
            </a:avLst>
          </a:prstGeom>
          <a:solidFill>
            <a:srgbClr val="18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663440" y="2423160"/>
            <a:ext cx="5842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000" b="1">
                <a:solidFill>
                  <a:srgbClr val="F5F5FA"/>
                </a:solidFill>
              </a:rPr>
              <a:t> Step 2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834640"/>
            <a:ext cx="27432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F9E2AF"/>
                </a:solidFill>
                <a:latin typeface="Helvetica Neue"/>
              </a:rPr>
              <a:t>套用詞彙表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337560"/>
            <a:ext cx="2743200" cy="88331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EN: 「the US → 美國人」</a:t>
            </a:r>
          </a:p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→ LLM 智能替換</a:t>
            </a:r>
          </a:p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ZH: 「成為美國人」</a:t>
            </a:r>
          </a:p>
          <a:p>
            <a:pPr algn="l"/>
            <a:endParaRPr sz="1100" b="0">
              <a:solidFill>
                <a:srgbClr val="A0A0B0"/>
              </a:solidFill>
              <a:latin typeface="Helvetica Neue"/>
            </a:endParaRPr>
          </a:p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applied_terms = [(US, 美國人)]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526280"/>
            <a:ext cx="2743200" cy="544765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zh_text 更新；baseline_zh 保持不變；</a:t>
            </a:r>
          </a:p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applied_terms 記錄已套用的 (term_en, term_zh)。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726680" y="3611880"/>
            <a:ext cx="365760" cy="274320"/>
          </a:xfrm>
          <a:prstGeom prst="rightArrow">
            <a:avLst/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138160" y="2194560"/>
            <a:ext cx="3291840" cy="3108960"/>
          </a:xfrm>
          <a:prstGeom prst="roundRect">
            <a:avLst>
              <a:gd name="adj" fmla="val 4000"/>
            </a:avLst>
          </a:prstGeom>
          <a:solidFill>
            <a:srgbClr val="18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412480" y="2423160"/>
            <a:ext cx="5842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000" b="1">
                <a:solidFill>
                  <a:srgbClr val="F5F5FA"/>
                </a:solidFill>
              </a:rPr>
              <a:t> Step 3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834640"/>
            <a:ext cx="27432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F9E2AF"/>
                </a:solidFill>
                <a:latin typeface="Helvetica Neue"/>
              </a:rPr>
              <a:t>詞彙表變動 → 自動回滾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337560"/>
            <a:ext cx="2743200" cy="71404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從詞彙表刪除 "US → 美國人"</a:t>
            </a:r>
          </a:p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下次掃描時 lazy revert：</a:t>
            </a:r>
          </a:p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zh_text ← baseline_zh</a:t>
            </a:r>
          </a:p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→ 「在美國」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526280"/>
            <a:ext cx="2743200" cy="37548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無需手動撤銷。</a:t>
            </a:r>
          </a:p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手動編輯將更新 baseline，成為新的基準。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A0A0B0"/>
                </a:solidFill>
                <a:latin typeface="Helvetica Neue"/>
              </a:rPr>
              <a:t>MoTitle — 廣播字幕製作 Pipeline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A0A0B0"/>
                </a:solidFill>
                <a:latin typeface="Helvetica Neue"/>
              </a:rPr>
              <a:t>11 / 21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9F03620-38CD-1F45-B7A3-CA770C4DED6E}"/>
              </a:ext>
            </a:extLst>
          </p:cNvPr>
          <p:cNvSpPr/>
          <p:nvPr/>
        </p:nvSpPr>
        <p:spPr>
          <a:xfrm>
            <a:off x="11607800" y="76200"/>
            <a:ext cx="508000" cy="533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27" name="Copied Picture 27">
            <a:extLst>
              <a:ext uri="{FF2B5EF4-FFF2-40B4-BE49-F238E27FC236}">
                <a16:creationId xmlns:a16="http://schemas.microsoft.com/office/drawing/2014/main" id="{FD7D184B-84B9-B349-494A-C733F2A42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3200" y="101600"/>
            <a:ext cx="4572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276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>
                <a:solidFill>
                  <a:srgbClr val="F9E2AF"/>
                </a:solidFill>
                <a:latin typeface="Helvetica Neue"/>
              </a:rPr>
              <a:t>功能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>
                <a:solidFill>
                  <a:srgbClr val="F5F5FA"/>
                </a:solidFill>
                <a:latin typeface="Helvetica Neue"/>
              </a:rPr>
              <a:t>字幕設定 Panel — Profile font 即時編輯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7040880" cy="4526280"/>
          </a:xfrm>
          <a:prstGeom prst="rect">
            <a:avLst/>
          </a:prstGeom>
          <a:solidFill>
            <a:srgbClr val="181822"/>
          </a:solidFill>
          <a:ln w="12700">
            <a:solidFill>
              <a:srgbClr val="3838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8_subtitle_settings_panel.png"/>
          <p:cNvPicPr>
            <a:picLocks noChangeAspect="1"/>
          </p:cNvPicPr>
          <p:nvPr/>
        </p:nvPicPr>
        <p:blipFill>
          <a:blip r:embed="rId2"/>
          <a:srcRect l="24510" t="4743" r="2" b="19768"/>
          <a:stretch>
            <a:fillRect/>
          </a:stretch>
        </p:blipFill>
        <p:spPr>
          <a:xfrm>
            <a:off x="502920" y="1815084"/>
            <a:ext cx="6949439" cy="4434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0" y="1828800"/>
            <a:ext cx="402336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F9E2AF"/>
                </a:solidFill>
                <a:latin typeface="Helvetica Neue"/>
              </a:rPr>
              <a:t>重點功能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331720"/>
            <a:ext cx="8382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000" b="1">
                <a:solidFill>
                  <a:srgbClr val="F5F5FA"/>
                </a:solidFill>
              </a:rPr>
              <a:t> 即時 PATCH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715768"/>
            <a:ext cx="4023360" cy="37548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修改字型、大小、顏色、輪廓、邊距 → 500ms debounce → 自動寫入 Profile。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3474720"/>
            <a:ext cx="16891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000" b="1">
                <a:solidFill>
                  <a:srgbClr val="F5F5FA"/>
                </a:solidFill>
              </a:rPr>
              <a:t> Socket.IO 跨 Tab Sync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858768"/>
            <a:ext cx="4023360" cy="2062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在一個頁籤修改字型，所有頁籤的預覽同步更新。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4617720"/>
            <a:ext cx="10795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000" b="1">
                <a:solidFill>
                  <a:srgbClr val="F5F5FA"/>
                </a:solidFill>
              </a:rPr>
              <a:t> Bundled Font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5001768"/>
            <a:ext cx="4023360" cy="37548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將 TTF 置入 backend/assets/fonts/，前端 @font-face 與 libass fontsdir 同步使用。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5760720"/>
            <a:ext cx="7112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000" b="1">
                <a:solidFill>
                  <a:srgbClr val="F5F5FA"/>
                </a:solidFill>
              </a:rPr>
              <a:t> WYSIWYG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144768"/>
            <a:ext cx="4023360" cy="2062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瀏覽器預覽的每一像素與最終燒入影片完全 1:1 一致。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A0A0B0"/>
                </a:solidFill>
                <a:latin typeface="Helvetica Neue"/>
              </a:rPr>
              <a:t>MoTitle — 廣播字幕製作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A0A0B0"/>
                </a:solidFill>
                <a:latin typeface="Helvetica Neue"/>
              </a:rPr>
              <a:t>12 / 21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543CCF5-4E34-F540-8FEC-DC7873313B4B}"/>
              </a:ext>
            </a:extLst>
          </p:cNvPr>
          <p:cNvSpPr/>
          <p:nvPr/>
        </p:nvSpPr>
        <p:spPr>
          <a:xfrm>
            <a:off x="11607800" y="76200"/>
            <a:ext cx="508000" cy="533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20" name="Copied Picture 20">
            <a:extLst>
              <a:ext uri="{FF2B5EF4-FFF2-40B4-BE49-F238E27FC236}">
                <a16:creationId xmlns:a16="http://schemas.microsoft.com/office/drawing/2014/main" id="{FD7D184B-84B9-B349-494A-C733F2A42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3200" y="101600"/>
            <a:ext cx="4572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413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>
                <a:solidFill>
                  <a:srgbClr val="F9E2AF"/>
                </a:solidFill>
                <a:latin typeface="Helvetica Neue"/>
              </a:rPr>
              <a:t>功能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>
                <a:solidFill>
                  <a:srgbClr val="F5F5FA"/>
                </a:solidFill>
                <a:latin typeface="Helvetica Neue"/>
              </a:rPr>
              <a:t>WYSIWYG 字幕預覽 — preview = burn-in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7040880" cy="4526280"/>
          </a:xfrm>
          <a:prstGeom prst="rect">
            <a:avLst/>
          </a:prstGeom>
          <a:solidFill>
            <a:srgbClr val="181822"/>
          </a:solidFill>
          <a:ln w="12700">
            <a:solidFill>
              <a:srgbClr val="3838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14_subtitle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949440" cy="4434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0" y="1828800"/>
            <a:ext cx="402336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F9E2AF"/>
                </a:solidFill>
                <a:latin typeface="Helvetica Neue"/>
              </a:rPr>
              <a:t>重點功能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331720"/>
            <a:ext cx="13208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000" b="1">
                <a:solidFill>
                  <a:srgbClr val="F5F5FA"/>
                </a:solidFill>
              </a:rPr>
              <a:t> SVG paint-order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715768"/>
            <a:ext cx="4023360" cy="2062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stroke fill linejoin=round 對齊 libass FT_Stroker 的幾何計算。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3474720"/>
            <a:ext cx="22733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000" b="1">
                <a:solidFill>
                  <a:srgbClr val="F5F5FA"/>
                </a:solidFill>
              </a:rPr>
              <a:t> Hardcoded viewBox 1920×1080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858768"/>
            <a:ext cx="4023360" cy="37548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等同 libass 的 PlayResX/Y。尺寸、輪廓及邊距像素完美 1:1 一致。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4617720"/>
            <a:ext cx="10795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000" b="1">
                <a:solidFill>
                  <a:srgbClr val="F5F5FA"/>
                </a:solidFill>
              </a:rPr>
              <a:t> Fontsdir 同步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5001768"/>
            <a:ext cx="4023360" cy="37548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瀏覽器 @font-face 與 FFmpeg fontsdir= 使用相同 TTF 字型檔。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5760720"/>
            <a:ext cx="3810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000" b="1">
                <a:solidFill>
                  <a:srgbClr val="F5F5FA"/>
                </a:solidFill>
              </a:rPr>
              <a:t> 結果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144768"/>
            <a:ext cx="4023360" cy="37548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預覽與最終 H.264 / MPEG-2 4:2:0 燒入結果的每一像素、輪廓及字距完全一致。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A0A0B0"/>
                </a:solidFill>
                <a:latin typeface="Helvetica Neue"/>
              </a:rPr>
              <a:t>MoTitle — 廣播字幕製作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A0A0B0"/>
                </a:solidFill>
                <a:latin typeface="Helvetica Neue"/>
              </a:rPr>
              <a:t>13 / 21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0796F62-7ACA-E847-8B68-4E326033ED79}"/>
              </a:ext>
            </a:extLst>
          </p:cNvPr>
          <p:cNvSpPr/>
          <p:nvPr/>
        </p:nvSpPr>
        <p:spPr>
          <a:xfrm>
            <a:off x="11607800" y="76200"/>
            <a:ext cx="508000" cy="533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20" name="Copied Picture 20">
            <a:extLst>
              <a:ext uri="{FF2B5EF4-FFF2-40B4-BE49-F238E27FC236}">
                <a16:creationId xmlns:a16="http://schemas.microsoft.com/office/drawing/2014/main" id="{FD7D184B-84B9-B349-494A-C733F2A42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3200" y="101600"/>
            <a:ext cx="4572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281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>
                <a:solidFill>
                  <a:srgbClr val="F9E2AF"/>
                </a:solidFill>
                <a:latin typeface="Helvetica Neue"/>
              </a:rPr>
              <a:t>功能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>
                <a:solidFill>
                  <a:srgbClr val="F5F5FA"/>
                </a:solidFill>
                <a:latin typeface="Helvetica Neue"/>
              </a:rPr>
              <a:t>MP4 Render — CRF / CBR / 2-pass 三 mode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7040880" cy="4526280"/>
          </a:xfrm>
          <a:prstGeom prst="rect">
            <a:avLst/>
          </a:prstGeom>
          <a:solidFill>
            <a:srgbClr val="181822"/>
          </a:solidFill>
          <a:ln w="12700">
            <a:solidFill>
              <a:srgbClr val="3838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9_render_modal_m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949440" cy="4434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0" y="1828800"/>
            <a:ext cx="402336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F9E2AF"/>
                </a:solidFill>
                <a:latin typeface="Helvetica Neue"/>
              </a:rPr>
              <a:t>重點功能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331720"/>
            <a:ext cx="12065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000" b="1">
                <a:solidFill>
                  <a:srgbClr val="F5F5FA"/>
                </a:solidFill>
              </a:rPr>
              <a:t> CRF mode (預設)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715768"/>
            <a:ext cx="4023360" cy="2062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0–51 質量滑桿，適用於串流及 YouTube。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3474720"/>
            <a:ext cx="7493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000" b="1">
                <a:solidFill>
                  <a:srgbClr val="F5F5FA"/>
                </a:solidFill>
              </a:rPr>
              <a:t> CBR mode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858768"/>
            <a:ext cx="4023360" cy="2062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10–100 Mbps 嚴格固定碼率，符合 OTT 串流標準。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4617720"/>
            <a:ext cx="9906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000" b="1">
                <a:solidFill>
                  <a:srgbClr val="F5F5FA"/>
                </a:solidFill>
              </a:rPr>
              <a:t> 2-pass mode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5001768"/>
            <a:ext cx="4023360" cy="2062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兩次編碼，最佳化碼率分配，適用於母帶存檔及廣播交付。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5760720"/>
            <a:ext cx="6350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000" b="1">
                <a:solidFill>
                  <a:srgbClr val="F5F5FA"/>
                </a:solidFill>
              </a:rPr>
              <a:t> 細緻控制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144768"/>
            <a:ext cx="4023360" cy="37548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像素格式 (yuv420/422/444)、H.264 profile (high/high422/high444)、level (3.1–5.2 / auto)。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A0A0B0"/>
                </a:solidFill>
                <a:latin typeface="Helvetica Neue"/>
              </a:rPr>
              <a:t>MoTitle — 廣播字幕製作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A0A0B0"/>
                </a:solidFill>
                <a:latin typeface="Helvetica Neue"/>
              </a:rPr>
              <a:t>14 / 21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FC41EBF-5A34-924D-8BC9-A340206F27E0}"/>
              </a:ext>
            </a:extLst>
          </p:cNvPr>
          <p:cNvSpPr/>
          <p:nvPr/>
        </p:nvSpPr>
        <p:spPr>
          <a:xfrm>
            <a:off x="11607800" y="76200"/>
            <a:ext cx="508000" cy="533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20" name="Copied Picture 20">
            <a:extLst>
              <a:ext uri="{FF2B5EF4-FFF2-40B4-BE49-F238E27FC236}">
                <a16:creationId xmlns:a16="http://schemas.microsoft.com/office/drawing/2014/main" id="{FD7D184B-84B9-B349-494A-C733F2A42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3200" y="101600"/>
            <a:ext cx="4572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6350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>
                <a:solidFill>
                  <a:srgbClr val="F9E2AF"/>
                </a:solidFill>
                <a:latin typeface="Helvetica Neue"/>
              </a:rPr>
              <a:t>功能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>
                <a:solidFill>
                  <a:srgbClr val="F5F5FA"/>
                </a:solidFill>
                <a:latin typeface="Helvetica Neue"/>
              </a:rPr>
              <a:t>MXF ProRes — 廣播交付 master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7040880" cy="4526280"/>
          </a:xfrm>
          <a:prstGeom prst="rect">
            <a:avLst/>
          </a:prstGeom>
          <a:solidFill>
            <a:srgbClr val="181822"/>
          </a:solidFill>
          <a:ln w="12700">
            <a:solidFill>
              <a:srgbClr val="3838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10_render_modal_mx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949440" cy="4434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0" y="1828800"/>
            <a:ext cx="402336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F9E2AF"/>
                </a:solidFill>
                <a:latin typeface="Helvetica Neue"/>
              </a:rPr>
              <a:t>重點功能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331720"/>
            <a:ext cx="15240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000" b="1">
                <a:solidFill>
                  <a:srgbClr val="F5F5FA"/>
                </a:solidFill>
              </a:rPr>
              <a:t> ProRes 6 個 profile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715768"/>
            <a:ext cx="4023360" cy="37548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Proxy / LT / Standard / HQ / 4444 / 4444 XQ — 各對應碼率清晰標示。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3474720"/>
            <a:ext cx="6731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000" b="1">
                <a:solidFill>
                  <a:srgbClr val="F5F5FA"/>
                </a:solidFill>
              </a:rPr>
              <a:t> PCM 音訊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858768"/>
            <a:ext cx="4023360" cy="2062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16 / 24 / 32-bit PCM — 符合廣播母帶標準。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4617720"/>
            <a:ext cx="7620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000" b="1">
                <a:solidFill>
                  <a:srgbClr val="F5F5FA"/>
                </a:solidFill>
              </a:rPr>
              <a:t> 解像度匹配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5001768"/>
            <a:ext cx="4023360" cy="2062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保留原解像度 / 720p / 1080p / 4K 可自由選擇。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5760720"/>
            <a:ext cx="6350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000" b="1">
                <a:solidFill>
                  <a:srgbClr val="F5F5FA"/>
                </a:solidFill>
              </a:rPr>
              <a:t> 一鍵交付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144768"/>
            <a:ext cx="4023360" cy="2062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輸出檔名自動附加 _subtitled，無需手動重命名。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A0A0B0"/>
                </a:solidFill>
                <a:latin typeface="Helvetica Neue"/>
              </a:rPr>
              <a:t>MoTitle — 廣播字幕製作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A0A0B0"/>
                </a:solidFill>
                <a:latin typeface="Helvetica Neue"/>
              </a:rPr>
              <a:t>15 / 21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E4298A-061E-8F4C-A3FE-88406B4E8ED1}"/>
              </a:ext>
            </a:extLst>
          </p:cNvPr>
          <p:cNvSpPr/>
          <p:nvPr/>
        </p:nvSpPr>
        <p:spPr>
          <a:xfrm>
            <a:off x="11607800" y="76200"/>
            <a:ext cx="508000" cy="533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20" name="Copied Picture 20">
            <a:extLst>
              <a:ext uri="{FF2B5EF4-FFF2-40B4-BE49-F238E27FC236}">
                <a16:creationId xmlns:a16="http://schemas.microsoft.com/office/drawing/2014/main" id="{FD7D184B-84B9-B349-494A-C733F2A42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3200" y="101600"/>
            <a:ext cx="4572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9462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>
                <a:solidFill>
                  <a:srgbClr val="F9E2AF"/>
                </a:solidFill>
                <a:latin typeface="Helvetica Neue"/>
              </a:rPr>
              <a:t>功能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>
                <a:solidFill>
                  <a:srgbClr val="F5F5FA"/>
                </a:solidFill>
                <a:latin typeface="Helvetica Neue"/>
              </a:rPr>
              <a:t>MXF XDCAM HD 422 — Sony 廣播標準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7040880" cy="4526280"/>
          </a:xfrm>
          <a:prstGeom prst="rect">
            <a:avLst/>
          </a:prstGeom>
          <a:solidFill>
            <a:srgbClr val="181822"/>
          </a:solidFill>
          <a:ln w="12700">
            <a:solidFill>
              <a:srgbClr val="3838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11_render_modal_xdc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949440" cy="4434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0" y="1828800"/>
            <a:ext cx="402336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F9E2AF"/>
                </a:solidFill>
                <a:latin typeface="Helvetica Neue"/>
              </a:rPr>
              <a:t>重點功能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331720"/>
            <a:ext cx="16129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000" b="1">
                <a:solidFill>
                  <a:srgbClr val="F5F5FA"/>
                </a:solidFill>
              </a:rPr>
              <a:t> Long-GOP MPEG-2 422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715768"/>
            <a:ext cx="4023360" cy="37548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MPEG-2 4:2:2 long-GOP，封裝於 MXF 容器，符合 SMPTE-356M。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3474720"/>
            <a:ext cx="12827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000" b="1">
                <a:solidFill>
                  <a:srgbClr val="F5F5FA"/>
                </a:solidFill>
              </a:rPr>
              <a:t> CBR 10–100 Mbps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858768"/>
            <a:ext cx="4023360" cy="37548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預設 50 Mbps（XDCAM HD 422 標準），可提升至 100 Mbps 用於母帶製作。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4617720"/>
            <a:ext cx="11303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000" b="1">
                <a:solidFill>
                  <a:srgbClr val="F5F5FA"/>
                </a:solidFill>
              </a:rPr>
              <a:t> Sony 工作流相容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5001768"/>
            <a:ext cx="4023360" cy="2062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可直接匯入 Sony XDC 工作站、Avid、Premiere 及 FCP。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5760720"/>
            <a:ext cx="12065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000" b="1" dirty="0">
                <a:solidFill>
                  <a:srgbClr val="F5F5FA"/>
                </a:solidFill>
              </a:rPr>
              <a:t> </a:t>
            </a:r>
            <a:r>
              <a:rPr sz="1000" b="1" dirty="0" err="1">
                <a:solidFill>
                  <a:srgbClr val="F5F5FA"/>
                </a:solidFill>
              </a:rPr>
              <a:t>全程</a:t>
            </a:r>
            <a:r>
              <a:rPr sz="1000" b="1" dirty="0">
                <a:solidFill>
                  <a:srgbClr val="F5F5FA"/>
                </a:solidFill>
              </a:rPr>
              <a:t> 422 chroma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144768"/>
            <a:ext cx="4023360" cy="2062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非 8-bit 4:2:0 — 真正符合廣播鏈色彩空間要求。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A0A0B0"/>
                </a:solidFill>
                <a:latin typeface="Helvetica Neue"/>
              </a:rPr>
              <a:t>MoTitle — 廣播字幕製作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A0A0B0"/>
                </a:solidFill>
                <a:latin typeface="Helvetica Neue"/>
              </a:rPr>
              <a:t>16 / 21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38C7561-73F0-4D4F-B8FD-4CC4FCFECFEF}"/>
              </a:ext>
            </a:extLst>
          </p:cNvPr>
          <p:cNvSpPr/>
          <p:nvPr/>
        </p:nvSpPr>
        <p:spPr>
          <a:xfrm>
            <a:off x="11607800" y="76200"/>
            <a:ext cx="508000" cy="533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20" name="Copied Picture 20">
            <a:extLst>
              <a:ext uri="{FF2B5EF4-FFF2-40B4-BE49-F238E27FC236}">
                <a16:creationId xmlns:a16="http://schemas.microsoft.com/office/drawing/2014/main" id="{FD7D184B-84B9-B349-494A-C733F2A42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3200" y="101600"/>
            <a:ext cx="4572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3283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>
                <a:solidFill>
                  <a:srgbClr val="F9E2AF"/>
                </a:solidFill>
                <a:latin typeface="Helvetica Neue"/>
              </a:rPr>
              <a:t>功能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>
                <a:solidFill>
                  <a:srgbClr val="F5F5FA"/>
                </a:solidFill>
                <a:latin typeface="Helvetica Neue"/>
              </a:rPr>
              <a:t>2-pass Encoding — 最佳碼率分配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7040880" cy="4526280"/>
          </a:xfrm>
          <a:prstGeom prst="rect">
            <a:avLst/>
          </a:prstGeom>
          <a:solidFill>
            <a:srgbClr val="181822"/>
          </a:solidFill>
          <a:ln w="12700">
            <a:solidFill>
              <a:srgbClr val="3838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13_render_modal_mp4_2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949440" cy="4434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0" y="1828800"/>
            <a:ext cx="402336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F9E2AF"/>
                </a:solidFill>
                <a:latin typeface="Helvetica Neue"/>
              </a:rPr>
              <a:t>重點功能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331720"/>
            <a:ext cx="11938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r>
              <a:rPr sz="1000" b="1" dirty="0">
                <a:solidFill>
                  <a:srgbClr val="F5F5FA"/>
                </a:solidFill>
              </a:rPr>
              <a:t> Pass 1 → Pass 2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715768"/>
            <a:ext cx="4023360" cy="37548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第一次編碼分析場景複雜度，第二次按碼率預算智能分配各場景位元率。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34747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r>
              <a:rPr sz="1000" b="1" dirty="0">
                <a:solidFill>
                  <a:srgbClr val="F5F5FA"/>
                </a:solidFill>
              </a:rPr>
              <a:t> Concurrent-safe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858768"/>
            <a:ext cx="4023360" cy="37548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每次渲染使用獨立 passlogfile 前綴（PID + 隨機值），避免統計檔案衝突。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4617720"/>
            <a:ext cx="10033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r>
              <a:rPr sz="1000" b="1" dirty="0">
                <a:solidFill>
                  <a:srgbClr val="F5F5FA"/>
                </a:solidFill>
              </a:rPr>
              <a:t> </a:t>
            </a:r>
            <a:r>
              <a:rPr sz="1000" b="1" dirty="0" err="1">
                <a:solidFill>
                  <a:srgbClr val="F5F5FA"/>
                </a:solidFill>
              </a:rPr>
              <a:t>自動</a:t>
            </a:r>
            <a:r>
              <a:rPr sz="1000" b="1" dirty="0">
                <a:solidFill>
                  <a:srgbClr val="F5F5FA"/>
                </a:solidFill>
              </a:rPr>
              <a:t> cleanup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5001768"/>
            <a:ext cx="4023360" cy="2062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.log 及 .log.mbtree 暫存檔案在 finally 區塊中必定清除。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5760720"/>
            <a:ext cx="11684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r>
              <a:rPr sz="1000" b="1" dirty="0">
                <a:solidFill>
                  <a:srgbClr val="F5F5FA"/>
                </a:solidFill>
              </a:rPr>
              <a:t> </a:t>
            </a:r>
            <a:r>
              <a:rPr sz="1000" b="1" dirty="0" err="1">
                <a:solidFill>
                  <a:srgbClr val="F5F5FA"/>
                </a:solidFill>
              </a:rPr>
              <a:t>質素</a:t>
            </a:r>
            <a:r>
              <a:rPr sz="1000" b="1" dirty="0">
                <a:solidFill>
                  <a:srgbClr val="F5F5FA"/>
                </a:solidFill>
              </a:rPr>
              <a:t> / size </a:t>
            </a:r>
            <a:r>
              <a:rPr sz="1000" b="1" dirty="0" err="1">
                <a:solidFill>
                  <a:srgbClr val="F5F5FA"/>
                </a:solidFill>
              </a:rPr>
              <a:t>平衡</a:t>
            </a:r>
            <a:r>
              <a:rPr sz="1000" b="1" dirty="0">
                <a:solidFill>
                  <a:srgbClr val="F5F5FA"/>
                </a:solidFill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144768"/>
            <a:ext cx="4023360" cy="37548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與 CRF 相比檔案大小相近，但複雜場景自動提高位元率，空鏡自動節省位元率。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A0A0B0"/>
                </a:solidFill>
                <a:latin typeface="Helvetica Neue"/>
              </a:rPr>
              <a:t>MoTitle — 廣播字幕製作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A0A0B0"/>
                </a:solidFill>
                <a:latin typeface="Helvetica Neue"/>
              </a:rPr>
              <a:t>17 / 21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2F13EE-8804-064E-A179-6F9B15771C25}"/>
              </a:ext>
            </a:extLst>
          </p:cNvPr>
          <p:cNvSpPr/>
          <p:nvPr/>
        </p:nvSpPr>
        <p:spPr>
          <a:xfrm>
            <a:off x="11607800" y="76200"/>
            <a:ext cx="508000" cy="533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20" name="Copied Picture 20">
            <a:extLst>
              <a:ext uri="{FF2B5EF4-FFF2-40B4-BE49-F238E27FC236}">
                <a16:creationId xmlns:a16="http://schemas.microsoft.com/office/drawing/2014/main" id="{FD7D184B-84B9-B349-494A-C733F2A42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3200" y="101600"/>
            <a:ext cx="4572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0103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>
                <a:solidFill>
                  <a:srgbClr val="F9E2AF"/>
                </a:solidFill>
                <a:latin typeface="Helvetica Neue"/>
              </a:rPr>
              <a:t>對比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>
                <a:solidFill>
                  <a:srgbClr val="F5F5FA"/>
                </a:solidFill>
                <a:latin typeface="Helvetica Neue"/>
              </a:rPr>
              <a:t>MoTitle vs SaaS 字幕軟件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>
                <a:solidFill>
                  <a:srgbClr val="A0A0B0"/>
                </a:solidFill>
                <a:latin typeface="Helvetica Neue"/>
              </a:rPr>
              <a:t>Otter.ai · Rev · Descript · Sonix · Trint · Happy Scribe …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28800"/>
          <a:ext cx="110642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5F5FA"/>
                          </a:solidFill>
                        </a:rPr>
                        <a:t>維度</a:t>
                      </a:r>
                    </a:p>
                  </a:txBody>
                  <a:tcPr>
                    <a:solidFill>
                      <a:srgbClr val="6E5B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5F5FA"/>
                          </a:solidFill>
                        </a:rPr>
                        <a:t>市場 SaaS</a:t>
                      </a:r>
                    </a:p>
                  </a:txBody>
                  <a:tcPr>
                    <a:solidFill>
                      <a:srgbClr val="6E5B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5F5FA"/>
                          </a:solidFill>
                        </a:rPr>
                        <a:t>MoTitle</a:t>
                      </a:r>
                    </a:p>
                  </a:txBody>
                  <a:tcPr>
                    <a:solidFill>
                      <a:srgbClr val="6E5B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A0A0B0"/>
                          </a:solidFill>
                        </a:rPr>
                        <a:t>收費模式</a:t>
                      </a:r>
                    </a:p>
                  </a:txBody>
                  <a:tcPr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A0A0B0"/>
                          </a:solidFill>
                        </a:rPr>
                        <a:t>$20–60/月 + 按分鐘</a:t>
                      </a:r>
                    </a:p>
                  </a:txBody>
                  <a:tcPr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100" b="1" dirty="0">
                          <a:solidFill>
                            <a:srgbClr val="F5F5FA"/>
                          </a:solidFill>
                        </a:rPr>
                        <a:t>一次性收費</a:t>
                      </a:r>
                    </a:p>
                  </a:txBody>
                  <a:tcPr>
                    <a:solidFill>
                      <a:srgbClr val="10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A0A0B0"/>
                          </a:solidFill>
                        </a:rPr>
                        <a:t>數據去向</a:t>
                      </a:r>
                    </a:p>
                  </a:txBody>
                  <a:tcPr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A0A0B0"/>
                          </a:solidFill>
                        </a:rPr>
                        <a:t>影片上 cloud</a:t>
                      </a:r>
                    </a:p>
                  </a:txBody>
                  <a:tcPr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rgbClr val="F5F5FA"/>
                          </a:solidFill>
                        </a:rPr>
                        <a:t>永遠喺本機</a:t>
                      </a:r>
                      <a:endParaRPr sz="1100" b="1" dirty="0">
                        <a:solidFill>
                          <a:srgbClr val="F5F5FA"/>
                        </a:solidFill>
                      </a:endParaRPr>
                    </a:p>
                  </a:txBody>
                  <a:tcPr>
                    <a:solidFill>
                      <a:srgbClr val="1818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A0A0B0"/>
                          </a:solidFill>
                        </a:rPr>
                        <a:t>ASR 模型</a:t>
                      </a:r>
                    </a:p>
                  </a:txBody>
                  <a:tcPr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A0A0B0"/>
                          </a:solidFill>
                        </a:rPr>
                        <a:t>廠商鎖死（黑盒）</a:t>
                      </a:r>
                    </a:p>
                  </a:txBody>
                  <a:tcPr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F5F5FA"/>
                          </a:solidFill>
                        </a:rPr>
                        <a:t>tiny / medium / large-v3 </a:t>
                      </a:r>
                      <a:r>
                        <a:rPr sz="1100" b="1" dirty="0" err="1">
                          <a:solidFill>
                            <a:srgbClr val="F5F5FA"/>
                          </a:solidFill>
                        </a:rPr>
                        <a:t>自選</a:t>
                      </a:r>
                      <a:r>
                        <a:rPr lang="en-US" sz="1100" b="1" dirty="0">
                          <a:solidFill>
                            <a:srgbClr val="F5F5FA"/>
                          </a:solidFill>
                        </a:rPr>
                        <a:t>(</a:t>
                      </a:r>
                      <a:r>
                        <a:rPr lang="zh-TW" altLang="en-US" sz="1100" b="1" dirty="0">
                          <a:solidFill>
                            <a:srgbClr val="F5F5FA"/>
                          </a:solidFill>
                        </a:rPr>
                        <a:t>不同的模型輸出速度會不一樣</a:t>
                      </a:r>
                      <a:r>
                        <a:rPr lang="en-US" altLang="zh-TW" sz="1100" b="1" dirty="0">
                          <a:solidFill>
                            <a:srgbClr val="F5F5FA"/>
                          </a:solidFill>
                        </a:rPr>
                        <a:t>)</a:t>
                      </a:r>
                      <a:endParaRPr sz="1100" b="1" dirty="0">
                        <a:solidFill>
                          <a:srgbClr val="F5F5FA"/>
                        </a:solidFill>
                      </a:endParaRPr>
                    </a:p>
                  </a:txBody>
                  <a:tcPr>
                    <a:solidFill>
                      <a:srgbClr val="10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A0A0B0"/>
                          </a:solidFill>
                        </a:rPr>
                        <a:t>翻譯模型</a:t>
                      </a:r>
                    </a:p>
                  </a:txBody>
                  <a:tcPr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A0A0B0"/>
                          </a:solidFill>
                        </a:rPr>
                        <a:t>單一 provider</a:t>
                      </a:r>
                    </a:p>
                  </a:txBody>
                  <a:tcPr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rgbClr val="F5F5FA"/>
                          </a:solidFill>
                        </a:rPr>
                        <a:t>本地</a:t>
                      </a:r>
                      <a:r>
                        <a:rPr sz="1100" b="1" dirty="0">
                          <a:solidFill>
                            <a:srgbClr val="F5F5FA"/>
                          </a:solidFill>
                        </a:rPr>
                        <a:t> model</a:t>
                      </a:r>
                      <a:r>
                        <a:rPr lang="en-US" sz="1100" b="1" dirty="0">
                          <a:solidFill>
                            <a:srgbClr val="F5F5FA"/>
                          </a:solidFill>
                        </a:rPr>
                        <a:t> </a:t>
                      </a:r>
                      <a:r>
                        <a:rPr lang="en-US" sz="1100" b="1" dirty="0" err="1">
                          <a:solidFill>
                            <a:srgbClr val="F5F5FA"/>
                          </a:solidFill>
                        </a:rPr>
                        <a:t>運行</a:t>
                      </a:r>
                      <a:endParaRPr sz="1100" b="1" dirty="0">
                        <a:solidFill>
                          <a:srgbClr val="F5F5FA"/>
                        </a:solidFill>
                      </a:endParaRPr>
                    </a:p>
                  </a:txBody>
                  <a:tcPr>
                    <a:solidFill>
                      <a:srgbClr val="1818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A0A0B0"/>
                          </a:solidFill>
                        </a:rPr>
                        <a:t>廣播輸出</a:t>
                      </a:r>
                    </a:p>
                  </a:txBody>
                  <a:tcPr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A0A0B0"/>
                          </a:solidFill>
                        </a:rPr>
                        <a:t>通常只出 MP4</a:t>
                      </a:r>
                    </a:p>
                  </a:txBody>
                  <a:tcPr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F5F5FA"/>
                          </a:solidFill>
                        </a:rPr>
                        <a:t>MXF </a:t>
                      </a:r>
                      <a:r>
                        <a:rPr sz="1100" b="1" dirty="0" err="1">
                          <a:solidFill>
                            <a:srgbClr val="F5F5FA"/>
                          </a:solidFill>
                        </a:rPr>
                        <a:t>ProRes</a:t>
                      </a:r>
                      <a:r>
                        <a:rPr sz="1100" b="1" dirty="0">
                          <a:solidFill>
                            <a:srgbClr val="F5F5FA"/>
                          </a:solidFill>
                        </a:rPr>
                        <a:t> + XDCAM HD 422</a:t>
                      </a:r>
                      <a:r>
                        <a:rPr lang="en-US" sz="1100" b="1" dirty="0">
                          <a:solidFill>
                            <a:srgbClr val="F5F5FA"/>
                          </a:solidFill>
                        </a:rPr>
                        <a:t> ＋ MP4</a:t>
                      </a:r>
                      <a:endParaRPr sz="1100" b="1" dirty="0">
                        <a:solidFill>
                          <a:srgbClr val="F5F5FA"/>
                        </a:solidFill>
                      </a:endParaRPr>
                    </a:p>
                  </a:txBody>
                  <a:tcPr>
                    <a:solidFill>
                      <a:srgbClr val="10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A0A0B0"/>
                          </a:solidFill>
                        </a:rPr>
                        <a:t>Preview fidelity</a:t>
                      </a:r>
                    </a:p>
                  </a:txBody>
                  <a:tcPr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A0A0B0"/>
                          </a:solidFill>
                        </a:rPr>
                        <a:t>預覽 ≠ 最終輸出</a:t>
                      </a:r>
                    </a:p>
                  </a:txBody>
                  <a:tcPr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F5F5FA"/>
                          </a:solidFill>
                        </a:rPr>
                        <a:t>preview = </a:t>
                      </a:r>
                      <a:r>
                        <a:rPr sz="1100" b="1" dirty="0" err="1">
                          <a:solidFill>
                            <a:srgbClr val="F5F5FA"/>
                          </a:solidFill>
                        </a:rPr>
                        <a:t>burn-in（pixel-perfect</a:t>
                      </a:r>
                      <a:r>
                        <a:rPr sz="1100" b="1" dirty="0">
                          <a:solidFill>
                            <a:srgbClr val="F5F5FA"/>
                          </a:solidFill>
                        </a:rPr>
                        <a:t>）</a:t>
                      </a:r>
                    </a:p>
                  </a:txBody>
                  <a:tcPr>
                    <a:solidFill>
                      <a:srgbClr val="1818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A0A0B0"/>
                          </a:solidFill>
                        </a:rPr>
                        <a:t>字幕風格 prompt</a:t>
                      </a:r>
                    </a:p>
                  </a:txBody>
                  <a:tcPr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A0A0B0"/>
                          </a:solidFill>
                        </a:rPr>
                        <a:t>黑盒</a:t>
                      </a:r>
                    </a:p>
                  </a:txBody>
                  <a:tcPr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rgbClr val="F5F5FA"/>
                          </a:solidFill>
                        </a:rPr>
                        <a:t>繁體廣播</a:t>
                      </a:r>
                      <a:r>
                        <a:rPr sz="1100" b="1" dirty="0">
                          <a:solidFill>
                            <a:srgbClr val="F5F5FA"/>
                          </a:solidFill>
                        </a:rPr>
                        <a:t> few-shot prompt </a:t>
                      </a:r>
                      <a:r>
                        <a:rPr sz="1100" b="1" dirty="0" err="1">
                          <a:solidFill>
                            <a:srgbClr val="F5F5FA"/>
                          </a:solidFill>
                        </a:rPr>
                        <a:t>開放可改</a:t>
                      </a:r>
                      <a:endParaRPr sz="1100" b="1" dirty="0">
                        <a:solidFill>
                          <a:srgbClr val="F5F5FA"/>
                        </a:solidFill>
                      </a:endParaRPr>
                    </a:p>
                  </a:txBody>
                  <a:tcPr>
                    <a:solidFill>
                      <a:srgbClr val="10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A0A0B0"/>
                          </a:solidFill>
                        </a:rPr>
                        <a:t>Air-gap mode</a:t>
                      </a:r>
                    </a:p>
                  </a:txBody>
                  <a:tcPr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A0A0B0"/>
                          </a:solidFill>
                        </a:rPr>
                        <a:t>唔可行</a:t>
                      </a:r>
                    </a:p>
                  </a:txBody>
                  <a:tcPr>
                    <a:solidFill>
                      <a:srgbClr val="1818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5F5FA"/>
                          </a:solidFill>
                        </a:rPr>
                        <a:t>100% offline 可運行</a:t>
                      </a:r>
                    </a:p>
                  </a:txBody>
                  <a:tcPr>
                    <a:solidFill>
                      <a:srgbClr val="1818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A0A0B0"/>
                          </a:solidFill>
                        </a:rPr>
                        <a:t>Vendor lock-in</a:t>
                      </a:r>
                    </a:p>
                  </a:txBody>
                  <a:tcPr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A0A0B0"/>
                          </a:solidFill>
                        </a:rPr>
                        <a:t>高</a:t>
                      </a:r>
                    </a:p>
                  </a:txBody>
                  <a:tcPr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rgbClr val="F5F5FA"/>
                          </a:solidFill>
                        </a:rPr>
                        <a:t>零（plain</a:t>
                      </a:r>
                      <a:r>
                        <a:rPr sz="1100" b="1" dirty="0">
                          <a:solidFill>
                            <a:srgbClr val="F5F5FA"/>
                          </a:solidFill>
                        </a:rPr>
                        <a:t> JSON / </a:t>
                      </a:r>
                      <a:r>
                        <a:rPr sz="1100" b="1" dirty="0" err="1">
                          <a:solidFill>
                            <a:srgbClr val="F5F5FA"/>
                          </a:solidFill>
                        </a:rPr>
                        <a:t>開放標準</a:t>
                      </a:r>
                      <a:r>
                        <a:rPr sz="1100" b="1" dirty="0">
                          <a:solidFill>
                            <a:srgbClr val="F5F5FA"/>
                          </a:solidFill>
                        </a:rPr>
                        <a:t>）</a:t>
                      </a:r>
                    </a:p>
                  </a:txBody>
                  <a:tcPr>
                    <a:solidFill>
                      <a:srgbClr val="10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A0A0B0"/>
                </a:solidFill>
                <a:latin typeface="Helvetica Neue"/>
              </a:rPr>
              <a:t>MoTitle — 廣播字幕製作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A0A0B0"/>
                </a:solidFill>
                <a:latin typeface="Helvetica Neue"/>
              </a:rPr>
              <a:t>18 / 21</a:t>
            </a:r>
          </a:p>
        </p:txBody>
      </p:sp>
      <p:pic>
        <p:nvPicPr>
          <p:cNvPr id="11" name="Copied Picture 11">
            <a:extLst>
              <a:ext uri="{FF2B5EF4-FFF2-40B4-BE49-F238E27FC236}">
                <a16:creationId xmlns:a16="http://schemas.microsoft.com/office/drawing/2014/main" id="{FD7D184B-84B9-B349-494A-C733F2A42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5900" y="6299200"/>
            <a:ext cx="457200" cy="4826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39A698D-D7F0-7B44-98DC-14DA01195F73}"/>
              </a:ext>
            </a:extLst>
          </p:cNvPr>
          <p:cNvSpPr/>
          <p:nvPr/>
        </p:nvSpPr>
        <p:spPr>
          <a:xfrm>
            <a:off x="11607800" y="76200"/>
            <a:ext cx="508000" cy="533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12" name="Copied Picture 12">
            <a:extLst>
              <a:ext uri="{FF2B5EF4-FFF2-40B4-BE49-F238E27FC236}">
                <a16:creationId xmlns:a16="http://schemas.microsoft.com/office/drawing/2014/main" id="{FD7D184B-84B9-B349-494A-C733F2A42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3200" y="101600"/>
            <a:ext cx="4572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5866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>
                <a:solidFill>
                  <a:srgbClr val="F9E2AF"/>
                </a:solidFill>
                <a:latin typeface="Helvetica Neue"/>
              </a:rPr>
              <a:t>獨有機制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>
                <a:solidFill>
                  <a:srgbClr val="F5F5FA"/>
                </a:solidFill>
                <a:latin typeface="Helvetica Neue"/>
              </a:rPr>
              <a:t>市面上七項獨特設計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>
                <a:solidFill>
                  <a:srgbClr val="A0A0B0"/>
                </a:solidFill>
                <a:latin typeface="Helvetica Neue"/>
              </a:rPr>
              <a:t>非「功能層面的相似」，而是架構層面的根本差異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800" b="1">
                <a:solidFill>
                  <a:srgbClr val="F5F5FA"/>
                </a:solidFill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828800"/>
            <a:ext cx="4114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F9E2AF"/>
                </a:solidFill>
                <a:latin typeface="Helvetica Neue"/>
              </a:rPr>
              <a:t>Per-segment Baseline + Lazy Revert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1865376"/>
            <a:ext cx="6400800" cy="37548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每句字幕均保留原版備份。詞彙表修改或刪除詞條後，下次掃描時系統自動復原受影響的句子，無需手動逐句更正。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468880"/>
            <a:ext cx="457200" cy="457200"/>
          </a:xfrm>
          <a:prstGeom prst="ellipse">
            <a:avLst/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800" b="1">
                <a:solidFill>
                  <a:srgbClr val="F5F5FA"/>
                </a:solidFill>
              </a:rP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423160"/>
            <a:ext cx="4114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F9E2AF"/>
                </a:solidFill>
                <a:latin typeface="Helvetica Neue"/>
              </a:rPr>
              <a:t>Glossary Apply via LLM 智能替換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459736"/>
            <a:ext cx="6400800" cy="37548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套用詞彙表並非依賴簡單字串替換 — 系統交由 AI 理解整句語意後再進行替換，不破壞文法結構。例如「Jobs」→「喬布斯」，但「jobs」（職位）則不受影響。輸出強制使用繁體中文。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800" b="1">
                <a:solidFill>
                  <a:srgbClr val="F5F5FA"/>
                </a:solidFill>
              </a:rPr>
              <a:t>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017520"/>
            <a:ext cx="4114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F9E2AF"/>
                </a:solidFill>
                <a:latin typeface="Helvetica Neue"/>
              </a:rPr>
              <a:t>WYSIWYG Preview = Burn-in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3054096"/>
            <a:ext cx="6400800" cy="37548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介面所顯示的字幕預覽與最終燒入影片的結果完全一致 — 包括字體、大小及位置。不會出現預覽正確但輸出錯誤的情況。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657600"/>
            <a:ext cx="457200" cy="457200"/>
          </a:xfrm>
          <a:prstGeom prst="ellipse">
            <a:avLst/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800" b="1">
                <a:solidFill>
                  <a:srgbClr val="F5F5FA"/>
                </a:solidFill>
              </a:rPr>
              <a:t>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611880"/>
            <a:ext cx="4114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F9E2AF"/>
                </a:solidFill>
                <a:latin typeface="Helvetica Neue"/>
              </a:rPr>
              <a:t>三段可組合 Pipeline (Profile = 樂高)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3648456"/>
            <a:ext cx="6400800" cy="37548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語音轉寫、翻譯、字型及輸出為四個獨立模塊，可自由組合配置。例如無需翻譯時可直接跳過；更換輸出格式無需調整其他設定。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251960"/>
            <a:ext cx="457200" cy="457200"/>
          </a:xfrm>
          <a:prstGeom prst="ellipse">
            <a:avLst/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800" b="1">
                <a:solidFill>
                  <a:srgbClr val="F5F5FA"/>
                </a:solidFill>
              </a:rPr>
              <a:t>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206240"/>
            <a:ext cx="4114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F9E2AF"/>
                </a:solidFill>
                <a:latin typeface="Helvetica Neue"/>
              </a:rPr>
              <a:t>三層翻譯 Alignment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4242816"/>
            <a:ext cx="6400800" cy="37548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翻譯分三個步驟執行，確保每句原文均對應正確的中文字幕。即使 AI 回應格式不完整，系統亦能自動補救，避免字幕錯位。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4846320"/>
            <a:ext cx="457200" cy="457200"/>
          </a:xfrm>
          <a:prstGeom prst="ellipse">
            <a:avLst/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800" b="1">
                <a:solidFill>
                  <a:srgbClr val="F5F5FA"/>
                </a:solidFill>
              </a:rPr>
              <a:t>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800600"/>
            <a:ext cx="4114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F9E2AF"/>
                </a:solidFill>
                <a:latin typeface="Helvetica Neue"/>
              </a:rPr>
              <a:t>結構化 QA Flags（schema 級別）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4837176"/>
            <a:ext cx="6400800" cy="37548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字幕出現問題時（例如過長或需人工複核），系統在後台標記，但標記不會出現於字幕正文，因此絕不會意外燒入畫面。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" y="5440680"/>
            <a:ext cx="457200" cy="457200"/>
          </a:xfrm>
          <a:prstGeom prst="ellipse">
            <a:avLst/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800" b="1">
                <a:solidFill>
                  <a:srgbClr val="F5F5FA"/>
                </a:solidFill>
              </a:rPr>
              <a:t>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394960"/>
            <a:ext cx="4114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F9E2AF"/>
                </a:solidFill>
                <a:latin typeface="Helvetica Neue"/>
              </a:rPr>
              <a:t>Word-boundary + Smart-case Glossary Match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5431536"/>
            <a:ext cx="6400800" cy="37548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Helvetica Neue"/>
              </a:rPr>
              <a:t>詞彙表搜尋「US」僅匹配「US」，不會誤匹配「must」或「USA」。前端預覽與後端處理使用完全相同的規則 — 預覽所見即輸出所得。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A0A0B0"/>
                </a:solidFill>
                <a:latin typeface="Helvetica Neue"/>
              </a:rPr>
              <a:t>MoTitle — 廣播字幕製作 Pipeline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46520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A0A0B0"/>
                </a:solidFill>
                <a:latin typeface="Helvetica Neue"/>
              </a:rPr>
              <a:t>19 / 21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B9FFE86-20B9-EA4F-BD0E-73BA7D05C28D}"/>
              </a:ext>
            </a:extLst>
          </p:cNvPr>
          <p:cNvSpPr/>
          <p:nvPr/>
        </p:nvSpPr>
        <p:spPr>
          <a:xfrm>
            <a:off x="11607800" y="76200"/>
            <a:ext cx="508000" cy="533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31" name="Copied Picture 31">
            <a:extLst>
              <a:ext uri="{FF2B5EF4-FFF2-40B4-BE49-F238E27FC236}">
                <a16:creationId xmlns:a16="http://schemas.microsoft.com/office/drawing/2014/main" id="{FD7D184B-84B9-B349-494A-C733F2A42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3200" y="101600"/>
            <a:ext cx="4572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1653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1600"/>
            <a:ext cx="12191695" cy="6858000"/>
          </a:xfrm>
          <a:prstGeom prst="rect">
            <a:avLst/>
          </a:prstGeom>
          <a:solidFill>
            <a:srgbClr val="10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286000"/>
          </a:xfrm>
          <a:prstGeom prst="rect">
            <a:avLst/>
          </a:prstGeom>
          <a:solidFill>
            <a:srgbClr val="18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2606040"/>
            <a:ext cx="109728" cy="1828800"/>
          </a:xfrm>
          <a:prstGeom prst="rect">
            <a:avLst/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F9E2AF"/>
                </a:solidFill>
                <a:latin typeface="Helvetica Neue"/>
              </a:rPr>
              <a:t>MoTitle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972800" cy="12801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4800" b="1">
                <a:solidFill>
                  <a:srgbClr val="F5F5FA"/>
                </a:solidFill>
                <a:latin typeface="Helvetica Neue"/>
              </a:rPr>
              <a:t>無需妥協，亦無需月費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10972800" cy="25237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>
                <a:solidFill>
                  <a:srgbClr val="A0A0B0"/>
                </a:solidFill>
                <a:latin typeface="Helvetica Neue"/>
              </a:rPr>
              <a:t>全面掌控字幕製作的每一個步驟、每一個像素、每一份數據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120640"/>
            <a:ext cx="876300" cy="292608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200" b="1">
                <a:solidFill>
                  <a:srgbClr val="101018"/>
                </a:solidFill>
              </a:rPr>
              <a:t> 100% 本地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5120640"/>
            <a:ext cx="584200" cy="292608"/>
          </a:xfrm>
          <a:prstGeom prst="roundRect">
            <a:avLst>
              <a:gd name="adj" fmla="val 50000"/>
            </a:avLst>
          </a:prstGeom>
          <a:solidFill>
            <a:srgbClr val="6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200" b="1">
                <a:solidFill>
                  <a:srgbClr val="F5F5FA"/>
                </a:solidFill>
              </a:rPr>
              <a:t> 零月費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40" y="5120640"/>
            <a:ext cx="889000" cy="292608"/>
          </a:xfrm>
          <a:prstGeom prst="roundRect">
            <a:avLst>
              <a:gd name="adj" fmla="val 50000"/>
            </a:avLst>
          </a:prstGeom>
          <a:solidFill>
            <a:srgbClr val="F9E2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200" b="1">
                <a:solidFill>
                  <a:srgbClr val="101018"/>
                </a:solidFill>
              </a:rPr>
              <a:t> 廣播交付級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5120640"/>
            <a:ext cx="584200" cy="292608"/>
          </a:xfrm>
          <a:prstGeom prst="roundRect">
            <a:avLst>
              <a:gd name="adj" fmla="val 50000"/>
            </a:avLst>
          </a:prstGeom>
          <a:solidFill>
            <a:srgbClr val="18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200" b="1">
                <a:solidFill>
                  <a:srgbClr val="F5F5FA"/>
                </a:solidFill>
              </a:rPr>
              <a:t> 模塊化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5120640"/>
            <a:ext cx="431800" cy="292608"/>
          </a:xfrm>
          <a:prstGeom prst="roundRect">
            <a:avLst>
              <a:gd name="adj" fmla="val 50000"/>
            </a:avLst>
          </a:prstGeom>
          <a:solidFill>
            <a:srgbClr val="383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 anchorCtr="0">
            <a:noAutofit/>
          </a:bodyPr>
          <a:lstStyle/>
          <a:p>
            <a:pPr algn="ctr"/>
            <a:r>
              <a:rPr sz="1200" b="1">
                <a:solidFill>
                  <a:srgbClr val="F5F5FA"/>
                </a:solidFill>
              </a:rPr>
              <a:t> 開源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0875CD-A602-C04F-98FE-7C5A695E453A}"/>
              </a:ext>
            </a:extLst>
          </p:cNvPr>
          <p:cNvSpPr/>
          <p:nvPr/>
        </p:nvSpPr>
        <p:spPr>
          <a:xfrm>
            <a:off x="11607800" y="76200"/>
            <a:ext cx="508000" cy="533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14" name="Copied Picture 14">
            <a:extLst>
              <a:ext uri="{FF2B5EF4-FFF2-40B4-BE49-F238E27FC236}">
                <a16:creationId xmlns:a16="http://schemas.microsoft.com/office/drawing/2014/main" id="{FD7D184B-84B9-B349-494A-C733F2A42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3200" y="101600"/>
            <a:ext cx="4572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10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0E87245-A217-0545-81EF-E7FD05EE7F03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d3e7b7a2-dbcd-43c2-90f8-c5e0695393e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1463</Words>
  <Application>Microsoft Macintosh PowerPoint</Application>
  <PresentationFormat>Widescreen</PresentationFormat>
  <Paragraphs>328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Reno Cheung</cp:lastModifiedBy>
  <cp:revision>3</cp:revision>
  <dcterms:created xsi:type="dcterms:W3CDTF">2013-01-27T09:14:16Z</dcterms:created>
  <dcterms:modified xsi:type="dcterms:W3CDTF">2026-04-28T08:14:09Z</dcterms:modified>
  <cp:category/>
</cp:coreProperties>
</file>